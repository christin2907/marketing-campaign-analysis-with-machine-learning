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0"/>
  </p:notesMasterIdLst>
  <p:handoutMasterIdLst>
    <p:handoutMasterId r:id="rId21"/>
  </p:handoutMasterIdLst>
  <p:sldIdLst>
    <p:sldId id="312" r:id="rId5"/>
    <p:sldId id="304" r:id="rId6"/>
    <p:sldId id="307" r:id="rId7"/>
    <p:sldId id="331" r:id="rId8"/>
    <p:sldId id="332" r:id="rId9"/>
    <p:sldId id="281" r:id="rId10"/>
    <p:sldId id="325" r:id="rId11"/>
    <p:sldId id="339" r:id="rId12"/>
    <p:sldId id="334" r:id="rId13"/>
    <p:sldId id="335" r:id="rId14"/>
    <p:sldId id="337" r:id="rId15"/>
    <p:sldId id="282" r:id="rId16"/>
    <p:sldId id="338" r:id="rId17"/>
    <p:sldId id="340" r:id="rId18"/>
    <p:sldId id="314" r:id="rId19"/>
  </p:sldIdLst>
  <p:sldSz cx="12192000" cy="6858000"/>
  <p:notesSz cx="13716000" cy="24384000"/>
  <p:defaultTextStyle>
    <a:defPPr rtl="0">
      <a:defRPr lang="de-DE"/>
    </a:defPPr>
    <a:lvl1pPr marL="0" algn="l" defTabSz="457200" rtl="0" eaLnBrk="1" latinLnBrk="0" hangingPunct="1">
      <a:defRPr lang="de-DE" sz="1800" kern="1200">
        <a:solidFill>
          <a:schemeClr val="tx1"/>
        </a:solidFill>
        <a:latin typeface="+mn-lt"/>
        <a:ea typeface="+mn-ea"/>
        <a:cs typeface="+mn-cs"/>
      </a:defRPr>
    </a:lvl1pPr>
    <a:lvl2pPr marL="457200" algn="l" defTabSz="457200" rtl="0" eaLnBrk="1" latinLnBrk="0" hangingPunct="1">
      <a:defRPr lang="de-DE" sz="1800" kern="1200">
        <a:solidFill>
          <a:schemeClr val="tx1"/>
        </a:solidFill>
        <a:latin typeface="+mn-lt"/>
        <a:ea typeface="+mn-ea"/>
        <a:cs typeface="+mn-cs"/>
      </a:defRPr>
    </a:lvl2pPr>
    <a:lvl3pPr marL="914400" algn="l" defTabSz="457200" rtl="0" eaLnBrk="1" latinLnBrk="0" hangingPunct="1">
      <a:defRPr lang="de-DE" sz="1800" kern="1200">
        <a:solidFill>
          <a:schemeClr val="tx1"/>
        </a:solidFill>
        <a:latin typeface="+mn-lt"/>
        <a:ea typeface="+mn-ea"/>
        <a:cs typeface="+mn-cs"/>
      </a:defRPr>
    </a:lvl3pPr>
    <a:lvl4pPr marL="1371600" algn="l" defTabSz="457200" rtl="0" eaLnBrk="1" latinLnBrk="0" hangingPunct="1">
      <a:defRPr lang="de-DE" sz="1800" kern="1200">
        <a:solidFill>
          <a:schemeClr val="tx1"/>
        </a:solidFill>
        <a:latin typeface="+mn-lt"/>
        <a:ea typeface="+mn-ea"/>
        <a:cs typeface="+mn-cs"/>
      </a:defRPr>
    </a:lvl4pPr>
    <a:lvl5pPr marL="1828800" algn="l" defTabSz="457200" rtl="0" eaLnBrk="1" latinLnBrk="0" hangingPunct="1">
      <a:defRPr lang="de-DE" sz="1800" kern="1200">
        <a:solidFill>
          <a:schemeClr val="tx1"/>
        </a:solidFill>
        <a:latin typeface="+mn-lt"/>
        <a:ea typeface="+mn-ea"/>
        <a:cs typeface="+mn-cs"/>
      </a:defRPr>
    </a:lvl5pPr>
    <a:lvl6pPr marL="2286000" algn="l" defTabSz="457200" rtl="0" eaLnBrk="1" latinLnBrk="0" hangingPunct="1">
      <a:defRPr lang="de-DE" sz="1800" kern="1200">
        <a:solidFill>
          <a:schemeClr val="tx1"/>
        </a:solidFill>
        <a:latin typeface="+mn-lt"/>
        <a:ea typeface="+mn-ea"/>
        <a:cs typeface="+mn-cs"/>
      </a:defRPr>
    </a:lvl6pPr>
    <a:lvl7pPr marL="2743200" algn="l" defTabSz="457200" rtl="0" eaLnBrk="1" latinLnBrk="0" hangingPunct="1">
      <a:defRPr lang="de-DE" sz="1800" kern="1200">
        <a:solidFill>
          <a:schemeClr val="tx1"/>
        </a:solidFill>
        <a:latin typeface="+mn-lt"/>
        <a:ea typeface="+mn-ea"/>
        <a:cs typeface="+mn-cs"/>
      </a:defRPr>
    </a:lvl7pPr>
    <a:lvl8pPr marL="3200400" algn="l" defTabSz="457200" rtl="0" eaLnBrk="1" latinLnBrk="0" hangingPunct="1">
      <a:defRPr lang="de-DE" sz="1800" kern="1200">
        <a:solidFill>
          <a:schemeClr val="tx1"/>
        </a:solidFill>
        <a:latin typeface="+mn-lt"/>
        <a:ea typeface="+mn-ea"/>
        <a:cs typeface="+mn-cs"/>
      </a:defRPr>
    </a:lvl8pPr>
    <a:lvl9pPr marL="3657600" algn="l" defTabSz="457200" rtl="0" eaLnBrk="1" latinLnBrk="0" hangingPunct="1">
      <a:defRPr lang="de-DE"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301" autoAdjust="0"/>
    <p:restoredTop sz="56299" autoAdjust="0"/>
  </p:normalViewPr>
  <p:slideViewPr>
    <p:cSldViewPr snapToGrid="0" snapToObjects="1">
      <p:cViewPr varScale="1">
        <p:scale>
          <a:sx n="87" d="100"/>
          <a:sy n="87" d="100"/>
        </p:scale>
        <p:origin x="156" y="7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p:scale>
          <a:sx n="30" d="100"/>
          <a:sy n="30" d="100"/>
        </p:scale>
        <p:origin x="4452" y="3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lang="de-DE" sz="1200"/>
            </a:lvl1pPr>
          </a:lstStyle>
          <a:p>
            <a:pPr rtl="0"/>
            <a:endParaRPr lang="de-DE" dirty="0"/>
          </a:p>
        </p:txBody>
      </p:sp>
      <p:sp>
        <p:nvSpPr>
          <p:cNvPr id="3" name="Datumsplatzhalt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lang="de-DE" sz="1200"/>
            </a:lvl1pPr>
          </a:lstStyle>
          <a:p>
            <a:pPr rtl="0"/>
            <a:fld id="{61F194BD-2269-4EFA-851F-443B834DD978}" type="datetimeyyyy">
              <a:rPr lang="de-DE" smtClean="0"/>
              <a:t>2026</a:t>
            </a:fld>
            <a:endParaRPr lang="de-DE" dirty="0"/>
          </a:p>
        </p:txBody>
      </p:sp>
      <p:sp>
        <p:nvSpPr>
          <p:cNvPr id="4" name="Fußzeilenplatzhalt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lang="de-DE" sz="1200"/>
            </a:lvl1pPr>
          </a:lstStyle>
          <a:p>
            <a:pPr rtl="0"/>
            <a:endParaRPr lang="de-DE" dirty="0"/>
          </a:p>
        </p:txBody>
      </p:sp>
      <p:sp>
        <p:nvSpPr>
          <p:cNvPr id="5" name="Foliennummernplatzhalt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lang="de-DE" sz="1200"/>
            </a:lvl1pPr>
          </a:lstStyle>
          <a:p>
            <a:pPr rtl="0"/>
            <a:fld id="{420BD0AB-C59E-4A46-83D3-F07787446BA0}" type="slidenum">
              <a:rPr lang="de-DE" smtClean="0"/>
              <a:t>‹Nr.›</a:t>
            </a:fld>
            <a:endParaRPr lang="de-DE"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lang="de-DE" sz="600" kern="1200">
        <a:solidFill>
          <a:schemeClr val="tx1"/>
        </a:solidFill>
        <a:latin typeface="+mn-lt"/>
        <a:ea typeface="+mn-ea"/>
        <a:cs typeface="+mn-cs"/>
      </a:defRPr>
    </a:lvl1pPr>
    <a:lvl2pPr marL="228600" algn="l" defTabSz="457200" rtl="0" eaLnBrk="1" latinLnBrk="0" hangingPunct="1">
      <a:defRPr lang="de-DE" sz="600" kern="1200">
        <a:solidFill>
          <a:schemeClr val="tx1"/>
        </a:solidFill>
        <a:latin typeface="+mn-lt"/>
        <a:ea typeface="+mn-ea"/>
        <a:cs typeface="+mn-cs"/>
      </a:defRPr>
    </a:lvl2pPr>
    <a:lvl3pPr marL="457200" algn="l" defTabSz="457200" rtl="0" eaLnBrk="1" latinLnBrk="0" hangingPunct="1">
      <a:defRPr lang="de-DE" sz="600" kern="1200">
        <a:solidFill>
          <a:schemeClr val="tx1"/>
        </a:solidFill>
        <a:latin typeface="+mn-lt"/>
        <a:ea typeface="+mn-ea"/>
        <a:cs typeface="+mn-cs"/>
      </a:defRPr>
    </a:lvl3pPr>
    <a:lvl4pPr marL="685800" algn="l" defTabSz="457200" rtl="0" eaLnBrk="1" latinLnBrk="0" hangingPunct="1">
      <a:defRPr lang="de-DE" sz="600" kern="1200">
        <a:solidFill>
          <a:schemeClr val="tx1"/>
        </a:solidFill>
        <a:latin typeface="+mn-lt"/>
        <a:ea typeface="+mn-ea"/>
        <a:cs typeface="+mn-cs"/>
      </a:defRPr>
    </a:lvl4pPr>
    <a:lvl5pPr marL="914400" algn="l" defTabSz="457200" rtl="0" eaLnBrk="1" latinLnBrk="0" hangingPunct="1">
      <a:defRPr lang="de-DE" sz="600" kern="1200">
        <a:solidFill>
          <a:schemeClr val="tx1"/>
        </a:solidFill>
        <a:latin typeface="+mn-lt"/>
        <a:ea typeface="+mn-ea"/>
        <a:cs typeface="+mn-cs"/>
      </a:defRPr>
    </a:lvl5pPr>
    <a:lvl6pPr marL="1143000" algn="l" defTabSz="457200" rtl="0" eaLnBrk="1" latinLnBrk="0" hangingPunct="1">
      <a:defRPr lang="de-DE" sz="600" kern="1200">
        <a:solidFill>
          <a:schemeClr val="tx1"/>
        </a:solidFill>
        <a:latin typeface="+mn-lt"/>
        <a:ea typeface="+mn-ea"/>
        <a:cs typeface="+mn-cs"/>
      </a:defRPr>
    </a:lvl6pPr>
    <a:lvl7pPr marL="1371600" algn="l" defTabSz="457200" rtl="0" eaLnBrk="1" latinLnBrk="0" hangingPunct="1">
      <a:defRPr lang="de-DE" sz="600" kern="1200">
        <a:solidFill>
          <a:schemeClr val="tx1"/>
        </a:solidFill>
        <a:latin typeface="+mn-lt"/>
        <a:ea typeface="+mn-ea"/>
        <a:cs typeface="+mn-cs"/>
      </a:defRPr>
    </a:lvl7pPr>
    <a:lvl8pPr marL="1600200" algn="l" defTabSz="457200" rtl="0" eaLnBrk="1" latinLnBrk="0" hangingPunct="1">
      <a:defRPr lang="de-DE" sz="600" kern="1200">
        <a:solidFill>
          <a:schemeClr val="tx1"/>
        </a:solidFill>
        <a:latin typeface="+mn-lt"/>
        <a:ea typeface="+mn-ea"/>
        <a:cs typeface="+mn-cs"/>
      </a:defRPr>
    </a:lvl8pPr>
    <a:lvl9pPr marL="1828800" algn="l" defTabSz="457200" rtl="0" eaLnBrk="1" latinLnBrk="0" hangingPunct="1">
      <a:defRPr lang="de-DE"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p:cNvSpPr>
            <a:spLocks noGrp="1"/>
          </p:cNvSpPr>
          <p:nvPr>
            <p:ph type="body" idx="1"/>
          </p:nvPr>
        </p:nvSpPr>
        <p:spPr>
          <a:xfrm>
            <a:off x="1371600" y="11734800"/>
            <a:ext cx="10972800" cy="9601200"/>
          </a:xfrm>
          <a:prstGeom prst="rect">
            <a:avLst/>
          </a:prstGeom>
        </p:spPr>
        <p:txBody>
          <a:bodyPr rtlCol="0"/>
          <a:lstStyle>
            <a:defPPr>
              <a:defRPr lang="de-DE"/>
            </a:defPPr>
          </a:lstStyle>
          <a:p>
            <a:pPr rtl="0"/>
            <a:r>
              <a:rPr lang="de-DE" dirty="0"/>
              <a:t>Welcome</a:t>
            </a:r>
          </a:p>
          <a:p>
            <a:pPr rtl="0"/>
            <a:r>
              <a:rPr lang="de-DE" dirty="0"/>
              <a:t>+++</a:t>
            </a:r>
          </a:p>
          <a:p>
            <a:pPr rtl="0"/>
            <a:r>
              <a:rPr lang="de-DE" dirty="0"/>
              <a:t>Herangehensweise:</a:t>
            </a:r>
          </a:p>
          <a:p>
            <a:pPr rtl="0"/>
            <a:r>
              <a:rPr lang="de-DE" dirty="0"/>
              <a:t>Konzentration auf Kampagnen, Sozio-demografische Aspekte der Kunden, Kaufkanäle und Reaktionsquoten und daraus resultierenden Reaktionstypen</a:t>
            </a:r>
          </a:p>
          <a:p>
            <a:pPr rtl="0"/>
            <a:endParaRPr lang="de-DE" dirty="0"/>
          </a:p>
          <a:p>
            <a:pPr marL="0" indent="0" rtl="0">
              <a:buNone/>
            </a:pPr>
            <a:endParaRPr lang="de-DE" dirty="0"/>
          </a:p>
          <a:p>
            <a:pPr marL="0" indent="0" rtl="0">
              <a:buNone/>
            </a:pPr>
            <a:endParaRPr lang="de-DE"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p:cNvSpPr>
            <a:spLocks noGrp="1"/>
          </p:cNvSpPr>
          <p:nvPr>
            <p:ph type="body" idx="1"/>
          </p:nvPr>
        </p:nvSpPr>
        <p:spPr>
          <a:xfrm>
            <a:off x="1371600" y="11734800"/>
            <a:ext cx="10972800" cy="9601200"/>
          </a:xfrm>
          <a:prstGeom prst="rect">
            <a:avLst/>
          </a:prstGeom>
        </p:spPr>
        <p:txBody>
          <a:bodyPr rtlCol="0"/>
          <a:lstStyle>
            <a:defPPr>
              <a:defRPr lang="de-DE"/>
            </a:defPPr>
          </a:lstStyle>
          <a:p>
            <a:r>
              <a:rPr lang="de-DE" b="0" dirty="0"/>
              <a:t>Vorbereitung:</a:t>
            </a:r>
          </a:p>
          <a:p>
            <a:r>
              <a:rPr lang="de-DE" b="0" dirty="0"/>
              <a:t>Import Bibliotheken, Datenanalyse und Bereinigung, Feature Eng.</a:t>
            </a:r>
          </a:p>
          <a:p>
            <a:r>
              <a:rPr lang="de-DE" b="0" dirty="0"/>
              <a:t>+++</a:t>
            </a:r>
          </a:p>
          <a:p>
            <a:endParaRPr lang="de-DE" b="0"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b="0" dirty="0"/>
              <a:t>Kampagnen-Typologie = Clustering mit K-</a:t>
            </a:r>
            <a:r>
              <a:rPr lang="de-DE" b="0" dirty="0" err="1"/>
              <a:t>Means</a:t>
            </a:r>
            <a:r>
              <a:rPr lang="de-DE" b="0" dirty="0"/>
              <a:t> inkl. </a:t>
            </a:r>
            <a:r>
              <a:rPr lang="de-DE" b="0" dirty="0" err="1"/>
              <a:t>Elbowplot</a:t>
            </a:r>
            <a:r>
              <a:rPr lang="de-DE" b="0" dirty="0"/>
              <a:t> </a:t>
            </a:r>
            <a:r>
              <a:rPr lang="de-DE" b="0" dirty="0">
                <a:sym typeface="Wingdings" panose="05000000000000000000" pitchFamily="2" charset="2"/>
              </a:rPr>
              <a:t> </a:t>
            </a:r>
            <a:r>
              <a:rPr lang="de-DE" b="0" dirty="0"/>
              <a:t>Einteilung der Kampagnen in Cluster um darauf die verschiedenen Kundentypen nach Reaktionen zu modellieren und deren unterschiedliche Wirkmechanismen zu analysieren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b="0"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b="0" dirty="0"/>
              <a:t>+++</a:t>
            </a:r>
          </a:p>
          <a:p>
            <a:endParaRPr lang="de-DE" b="0" dirty="0"/>
          </a:p>
          <a:p>
            <a:r>
              <a:rPr lang="de-DE" b="0" dirty="0"/>
              <a:t>Reaktions-Sequenz-Typologie = kein klassisches Modelling, eher Erkennung &amp; Definition von Reaktionsmustern und Reaktionstypen, davon abgeleitet Customer Journey je Kampagne und die Analyse der Übergänge anhand Markov-Ketten</a:t>
            </a:r>
          </a:p>
          <a:p>
            <a:endParaRPr lang="de-DE" b="0" dirty="0"/>
          </a:p>
          <a:p>
            <a:r>
              <a:rPr lang="de-DE" b="0" dirty="0"/>
              <a:t>+++</a:t>
            </a:r>
          </a:p>
          <a:p>
            <a:endParaRPr lang="de-DE" b="0" dirty="0"/>
          </a:p>
          <a:p>
            <a:r>
              <a:rPr lang="de-DE" b="0" dirty="0" err="1"/>
              <a:t>Modellvgl</a:t>
            </a:r>
            <a:r>
              <a:rPr lang="de-DE" b="0" dirty="0"/>
              <a:t>. </a:t>
            </a:r>
            <a:r>
              <a:rPr lang="de-DE" b="0" dirty="0" err="1"/>
              <a:t>Log.Reg</a:t>
            </a:r>
            <a:r>
              <a:rPr lang="de-DE" b="0" dirty="0"/>
              <a:t> &amp; Random Forest = aus der Reaktionsanalyse entstandene High-Response-Kunden (Früh-Reagierer), darauf bestimmend Threshold und Recall= </a:t>
            </a:r>
            <a:r>
              <a:rPr lang="de-DE" dirty="0">
                <a:sym typeface="Wingdings" panose="05000000000000000000" pitchFamily="2" charset="2"/>
              </a:rPr>
              <a:t> Simulationsrechner gebaut um </a:t>
            </a:r>
            <a:r>
              <a:rPr lang="de-DE" dirty="0"/>
              <a:t>den bestmöglichen Recall für High-Response-Kunden zu suchen</a:t>
            </a:r>
          </a:p>
          <a:p>
            <a:endParaRPr lang="de-DE" b="0" dirty="0"/>
          </a:p>
          <a:p>
            <a:r>
              <a:rPr lang="de-DE" b="0" dirty="0"/>
              <a:t>+++</a:t>
            </a:r>
          </a:p>
          <a:p>
            <a:endParaRPr lang="de-DE" b="0" dirty="0"/>
          </a:p>
          <a:p>
            <a:r>
              <a:rPr lang="de-DE" b="0" dirty="0"/>
              <a:t>Feature </a:t>
            </a:r>
            <a:r>
              <a:rPr lang="de-DE" b="0" dirty="0" err="1"/>
              <a:t>Importance</a:t>
            </a:r>
            <a:r>
              <a:rPr lang="de-DE" b="0" dirty="0"/>
              <a:t> </a:t>
            </a:r>
            <a:r>
              <a:rPr lang="de-DE" b="0" dirty="0">
                <a:sym typeface="Wingdings" panose="05000000000000000000" pitchFamily="2" charset="2"/>
              </a:rPr>
              <a:t></a:t>
            </a:r>
            <a:r>
              <a:rPr lang="de-DE" b="0" dirty="0"/>
              <a:t> anhand des </a:t>
            </a:r>
            <a:r>
              <a:rPr lang="de-DE" dirty="0"/>
              <a:t>Random Forest, also welche Kundenmerkmale besonders wichtig für die Vorhersage von High-Response-Kunden sind</a:t>
            </a:r>
          </a:p>
          <a:p>
            <a:endParaRPr lang="de-DE" b="0" dirty="0"/>
          </a:p>
          <a:p>
            <a:r>
              <a:rPr lang="de-DE" dirty="0"/>
              <a:t>+++</a:t>
            </a:r>
          </a:p>
          <a:p>
            <a:endParaRPr lang="de-DE"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sz="800" dirty="0"/>
              <a:t>Executive Summary</a:t>
            </a:r>
          </a:p>
          <a:p>
            <a:endParaRPr lang="de-DE"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p:cNvSpPr>
            <a:spLocks noGrp="1"/>
          </p:cNvSpPr>
          <p:nvPr>
            <p:ph type="body" idx="1"/>
          </p:nvPr>
        </p:nvSpPr>
        <p:spPr>
          <a:xfrm>
            <a:off x="1371600" y="11734800"/>
            <a:ext cx="10972800" cy="9601200"/>
          </a:xfrm>
          <a:prstGeom prst="rect">
            <a:avLst/>
          </a:prstGeom>
        </p:spPr>
        <p:txBody>
          <a:bodyPr rtlCol="0"/>
          <a:lstStyle>
            <a:defPPr>
              <a:defRPr lang="de-DE"/>
            </a:defPPr>
          </a:lstStyle>
          <a:p>
            <a:pPr rtl="0"/>
            <a:endParaRPr lang="de-DE"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9E0C1-7329-29F7-57EE-1E9854AED89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2CE7119-5ECA-F464-0E81-7FD7F049BA5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B9396C79-74F1-BC70-BE01-EFAFDBE50521}"/>
              </a:ext>
            </a:extLst>
          </p:cNvPr>
          <p:cNvSpPr>
            <a:spLocks noGrp="1"/>
          </p:cNvSpPr>
          <p:nvPr>
            <p:ph type="body" idx="1"/>
          </p:nvPr>
        </p:nvSpPr>
        <p:spPr>
          <a:xfrm>
            <a:off x="1371600" y="11734800"/>
            <a:ext cx="10972800" cy="9601200"/>
          </a:xfrm>
          <a:prstGeom prst="rect">
            <a:avLst/>
          </a:prstGeom>
        </p:spPr>
        <p:txBody>
          <a:bodyPr rtlCol="0"/>
          <a:lstStyle>
            <a:defPPr>
              <a:defRPr lang="de-DE"/>
            </a:defPPr>
          </a:lstStyle>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de-DE" b="0" dirty="0"/>
              <a:t>Diagramm</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endParaRPr lang="de-DE" b="0" dirty="0"/>
          </a:p>
          <a:p>
            <a:pPr marL="171450" indent="-171450">
              <a:buFontTx/>
              <a:buChar char="-"/>
            </a:pPr>
            <a:r>
              <a:rPr lang="de-DE" b="0" dirty="0"/>
              <a:t>Analyse der einzelnen Kampagnen nach Reaktion / keine Reaktion</a:t>
            </a:r>
          </a:p>
          <a:p>
            <a:pPr marL="171450" indent="-171450">
              <a:buFontTx/>
              <a:buChar char="-"/>
            </a:pPr>
            <a:r>
              <a:rPr lang="de-DE" b="0" dirty="0"/>
              <a:t>Akzeptanz = Reaktion – nicht Kauf – auch wenn Datensatz dies so scheinen lässt – können wir es nicht zu 100% sagen</a:t>
            </a:r>
          </a:p>
          <a:p>
            <a:pPr marL="171450" indent="-171450">
              <a:buFontTx/>
              <a:buChar char="-"/>
            </a:pPr>
            <a:endParaRPr lang="de-DE" b="0" dirty="0"/>
          </a:p>
          <a:p>
            <a:r>
              <a:rPr lang="de-DE" b="1" dirty="0"/>
              <a:t>Bsp. Typische Kampagnenreaktionen (ohne Kauf): </a:t>
            </a:r>
            <a:r>
              <a:rPr lang="de-DE" dirty="0"/>
              <a:t>Öffnen eines Newsletters, Klick auf einen Link, Besuch der Landingpage, Warenkorb-Anlage,</a:t>
            </a:r>
          </a:p>
          <a:p>
            <a:r>
              <a:rPr lang="de-DE" dirty="0"/>
              <a:t>Beratungsgespräch im Laden, Katalog anfordern / durchblättern, Anmeldung zum Kundenkonto, Teilnahme an Aktionen oder Gewinnspielen</a:t>
            </a:r>
          </a:p>
          <a:p>
            <a:endParaRPr lang="de-DE" b="0" dirty="0"/>
          </a:p>
          <a:p>
            <a:r>
              <a:rPr lang="de-DE" b="0" dirty="0"/>
              <a:t>Zwangsweise die Kampagnen mit den Kaufvolumen zusammen zu bringen ohne Marker (wie </a:t>
            </a:r>
            <a:r>
              <a:rPr lang="de-DE" b="0" dirty="0" err="1"/>
              <a:t>zb</a:t>
            </a:r>
            <a:r>
              <a:rPr lang="de-DE" b="0" dirty="0"/>
              <a:t> Promo-Code </a:t>
            </a:r>
            <a:r>
              <a:rPr lang="de-DE" b="0" dirty="0" err="1"/>
              <a:t>od</a:t>
            </a:r>
            <a:r>
              <a:rPr lang="de-DE" b="0" dirty="0"/>
              <a:t> Webanalyse) halte ich für gefährlich</a:t>
            </a:r>
          </a:p>
          <a:p>
            <a:r>
              <a:rPr lang="de-DE" b="0" dirty="0"/>
              <a:t>Wenn es keine Beziehung zwischen beiden gibt.</a:t>
            </a:r>
          </a:p>
          <a:p>
            <a:endParaRPr lang="de-DE" b="0" dirty="0"/>
          </a:p>
          <a:p>
            <a:r>
              <a:rPr lang="de-DE" b="1" dirty="0"/>
              <a:t>Grundsätzlich: </a:t>
            </a:r>
          </a:p>
          <a:p>
            <a:r>
              <a:rPr lang="de-DE" b="0" dirty="0"/>
              <a:t>„Eine Kampagne ist nur erfolgreich, wenn sie besser ist als die letzte!“ </a:t>
            </a:r>
            <a:r>
              <a:rPr lang="de-DE" b="0" dirty="0">
                <a:sym typeface="Wingdings" panose="05000000000000000000" pitchFamily="2" charset="2"/>
              </a:rPr>
              <a:t> lässt sich nicht immer bestätigen</a:t>
            </a:r>
          </a:p>
          <a:p>
            <a:endParaRPr lang="de-DE" b="0" dirty="0"/>
          </a:p>
          <a:p>
            <a:endParaRPr lang="de-DE" b="0" dirty="0"/>
          </a:p>
          <a:p>
            <a:r>
              <a:rPr lang="de-DE" b="0" dirty="0"/>
              <a:t>2. und 3. Diagramm</a:t>
            </a:r>
          </a:p>
          <a:p>
            <a:r>
              <a:rPr lang="de-DE" b="0" dirty="0"/>
              <a:t>Datengetriebene Einteilung der 6 Kampagnen in 3 Cluster (mit </a:t>
            </a:r>
            <a:r>
              <a:rPr lang="de-DE" b="0" dirty="0" err="1"/>
              <a:t>Elbowplot</a:t>
            </a:r>
            <a:r>
              <a:rPr lang="de-DE" b="0" dirty="0"/>
              <a:t>) mithilfe der Variablen (Reaktionsquote, Alter, Einkommen, Kanal, Wein und Premium) </a:t>
            </a:r>
            <a:r>
              <a:rPr lang="de-DE" b="0" dirty="0">
                <a:sym typeface="Wingdings" panose="05000000000000000000" pitchFamily="2" charset="2"/>
              </a:rPr>
              <a:t> bewusst nur für in meinen Augen relevante Variablen entschieden – quasi PCA Freestyle </a:t>
            </a:r>
          </a:p>
          <a:p>
            <a:r>
              <a:rPr lang="de-DE" b="0" dirty="0">
                <a:sym typeface="Wingdings" panose="05000000000000000000" pitchFamily="2" charset="2"/>
              </a:rPr>
              <a:t>Neue Spalten = Reaktionsquote errechnet zwischen den einzelnen </a:t>
            </a:r>
            <a:r>
              <a:rPr lang="de-DE" b="0" dirty="0" err="1">
                <a:sym typeface="Wingdings" panose="05000000000000000000" pitchFamily="2" charset="2"/>
              </a:rPr>
              <a:t>K´s</a:t>
            </a:r>
            <a:r>
              <a:rPr lang="de-DE" b="0" dirty="0">
                <a:sym typeface="Wingdings" panose="05000000000000000000" pitchFamily="2" charset="2"/>
              </a:rPr>
              <a:t> (errechnet aus Reaktion/keine Reaktion bzw. Mittelwert aller </a:t>
            </a:r>
            <a:r>
              <a:rPr lang="de-DE" b="0" dirty="0" err="1">
                <a:sym typeface="Wingdings" panose="05000000000000000000" pitchFamily="2" charset="2"/>
              </a:rPr>
              <a:t>K´s</a:t>
            </a:r>
            <a:r>
              <a:rPr lang="de-DE" b="0" dirty="0">
                <a:sym typeface="Wingdings" panose="05000000000000000000" pitchFamily="2" charset="2"/>
              </a:rPr>
              <a:t> und den Anteil der Reagierer)</a:t>
            </a:r>
          </a:p>
          <a:p>
            <a:r>
              <a:rPr lang="de-DE" b="0" dirty="0" err="1">
                <a:sym typeface="Wingdings" panose="05000000000000000000" pitchFamily="2" charset="2"/>
              </a:rPr>
              <a:t>Kundendauer_Jahre</a:t>
            </a:r>
            <a:r>
              <a:rPr lang="de-DE" b="0" dirty="0">
                <a:sym typeface="Wingdings" panose="05000000000000000000" pitchFamily="2" charset="2"/>
              </a:rPr>
              <a:t> = um Zeit fair und vergleichbar in die Analyse mit einzubinden</a:t>
            </a:r>
            <a:endParaRPr lang="de-DE" b="0" dirty="0"/>
          </a:p>
          <a:p>
            <a:endParaRPr lang="de-DE" b="1" dirty="0"/>
          </a:p>
          <a:p>
            <a:r>
              <a:rPr lang="de-DE" b="1" dirty="0"/>
              <a:t>Clusternamen (nicht auf einem einzelnen absoluten Wert</a:t>
            </a:r>
            <a:r>
              <a:rPr lang="de-DE" dirty="0"/>
              <a:t>, sondern auf dem </a:t>
            </a:r>
            <a:r>
              <a:rPr lang="de-DE" b="1" dirty="0"/>
              <a:t>GESAMTMUSTER der Merkmale)</a:t>
            </a:r>
          </a:p>
          <a:p>
            <a:endParaRPr lang="de-DE" b="1" dirty="0"/>
          </a:p>
          <a:p>
            <a:r>
              <a:rPr lang="de-DE" b="0" dirty="0"/>
              <a:t>Cluster 0 – Rabatt-orientiert</a:t>
            </a:r>
            <a:br>
              <a:rPr lang="de-DE" b="0" dirty="0"/>
            </a:br>
            <a:r>
              <a:rPr lang="de-DE" b="0" dirty="0"/>
              <a:t>höhere Rabattkäufe, geringere Premium-Ausgaben, niedrigere Einkommen</a:t>
            </a:r>
          </a:p>
          <a:p>
            <a:endParaRPr lang="de-DE" b="0" dirty="0"/>
          </a:p>
          <a:p>
            <a:r>
              <a:rPr lang="de-DE" b="0" dirty="0"/>
              <a:t>Cluster 1 – Premium-orientiert</a:t>
            </a:r>
            <a:br>
              <a:rPr lang="de-DE" b="0" dirty="0"/>
            </a:br>
            <a:r>
              <a:rPr lang="de-DE" b="0" dirty="0"/>
              <a:t>hochwertige </a:t>
            </a:r>
            <a:r>
              <a:rPr lang="de-DE" b="0" dirty="0" err="1"/>
              <a:t>Premiumpodukte</a:t>
            </a:r>
            <a:r>
              <a:rPr lang="de-DE" b="0" dirty="0"/>
              <a:t> (Wein), höheres Einkommen, geringer Rabattabhängigkeit</a:t>
            </a:r>
          </a:p>
          <a:p>
            <a:endParaRPr lang="de-DE" b="0" dirty="0"/>
          </a:p>
          <a:p>
            <a:r>
              <a:rPr lang="de-DE" b="0" dirty="0"/>
              <a:t>Cluster 2 – Loyalitäts-orientiert</a:t>
            </a:r>
            <a:br>
              <a:rPr lang="de-DE" b="0" dirty="0"/>
            </a:br>
            <a:r>
              <a:rPr lang="de-DE" dirty="0"/>
              <a:t>stabile Reaktionsquote bei langjährigen Bestandskunden</a:t>
            </a:r>
            <a:endParaRPr lang="de-DE" b="0" dirty="0"/>
          </a:p>
          <a:p>
            <a:endParaRPr lang="de-DE" b="0" dirty="0"/>
          </a:p>
          <a:p>
            <a:endParaRPr lang="de-DE" b="0" dirty="0"/>
          </a:p>
          <a:p>
            <a:r>
              <a:rPr lang="de-DE" b="0" dirty="0"/>
              <a:t>4. Diagramm</a:t>
            </a:r>
          </a:p>
          <a:p>
            <a:r>
              <a:rPr lang="de-DE" b="0" dirty="0"/>
              <a:t>Berechnung von A</a:t>
            </a:r>
            <a:r>
              <a:rPr lang="de-DE" b="1" dirty="0"/>
              <a:t>UC / ROC  </a:t>
            </a:r>
            <a:endParaRPr lang="de-DE" b="0"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Wie gut können wir innerhalb dieses Kampagnentyps Reaktionen vorhersagen</a:t>
            </a:r>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Wie gut trennt das Modell Reagierer von Nicht-Reagierer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r>
              <a:rPr lang="de-DE" b="1" dirty="0"/>
              <a:t>ROC-Kurve (</a:t>
            </a:r>
            <a:r>
              <a:rPr lang="de-DE" dirty="0"/>
              <a:t>Receiver Operating </a:t>
            </a:r>
            <a:r>
              <a:rPr lang="de-DE" dirty="0" err="1"/>
              <a:t>Characteristic</a:t>
            </a:r>
            <a:r>
              <a:rPr lang="de-DE" dirty="0"/>
              <a:t>)</a:t>
            </a:r>
            <a:r>
              <a:rPr lang="de-DE" b="1" dirty="0"/>
              <a:t>-- </a:t>
            </a:r>
            <a:r>
              <a:rPr lang="de-DE" dirty="0"/>
              <a:t>Zeigt, wie gut das Modell: Reagierer von Nicht-Reagierern trennt, ohne Schwellenwertbestimmung</a:t>
            </a:r>
          </a:p>
          <a:p>
            <a:endParaRPr lang="de-DE" dirty="0"/>
          </a:p>
          <a:p>
            <a:r>
              <a:rPr lang="de-DE" b="1" dirty="0"/>
              <a:t>AUC (Area Under </a:t>
            </a:r>
            <a:r>
              <a:rPr lang="de-DE" b="1" dirty="0" err="1"/>
              <a:t>Curve</a:t>
            </a:r>
            <a:r>
              <a:rPr lang="de-DE" b="1" dirty="0"/>
              <a:t>)</a:t>
            </a:r>
            <a:endParaRPr lang="de-DE" dirty="0"/>
          </a:p>
          <a:p>
            <a:r>
              <a:rPr lang="de-DE" dirty="0"/>
              <a:t>Je höher, desto besser ist die </a:t>
            </a:r>
            <a:r>
              <a:rPr lang="de-DE" b="0" dirty="0"/>
              <a:t>Zielgruppenerkennung (Reagierer/</a:t>
            </a:r>
            <a:r>
              <a:rPr lang="de-DE" b="0" dirty="0" err="1"/>
              <a:t>NichtReagierer</a:t>
            </a:r>
            <a:r>
              <a:rPr lang="de-DE" b="0" dirty="0"/>
              <a:t>) </a:t>
            </a:r>
            <a:r>
              <a:rPr lang="de-DE" b="0" dirty="0">
                <a:sym typeface="Wingdings" panose="05000000000000000000" pitchFamily="2" charset="2"/>
              </a:rPr>
              <a:t> </a:t>
            </a:r>
            <a:r>
              <a:rPr lang="de-DE" b="0" dirty="0"/>
              <a:t>Cluster 1 – premium orientierte Kampagne</a:t>
            </a:r>
          </a:p>
          <a:p>
            <a:endParaRPr lang="de-DE" dirty="0"/>
          </a:p>
          <a:p>
            <a:endParaRPr lang="de-DE"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b="1" dirty="0"/>
              <a:t>Warum habe ich etwas nicht gemacht?</a:t>
            </a:r>
          </a:p>
          <a:p>
            <a:pPr marL="0" marR="0" lvl="0" indent="0" algn="l" defTabSz="457200" rtl="0" eaLnBrk="1" fontAlgn="auto" latinLnBrk="0" hangingPunct="1">
              <a:lnSpc>
                <a:spcPct val="100000"/>
              </a:lnSpc>
              <a:spcBef>
                <a:spcPts val="0"/>
              </a:spcBef>
              <a:spcAft>
                <a:spcPts val="0"/>
              </a:spcAft>
              <a:buClrTx/>
              <a:buSzTx/>
              <a:buFontTx/>
              <a:buNone/>
              <a:tabLst/>
              <a:defRPr/>
            </a:pPr>
            <a:r>
              <a:rPr lang="de-DE" b="0" dirty="0"/>
              <a:t>Berechnung des Threshold (Schwellenwert) und </a:t>
            </a:r>
            <a:r>
              <a:rPr lang="de-DE" b="0" dirty="0" err="1"/>
              <a:t>Accuracy</a:t>
            </a:r>
            <a:r>
              <a:rPr lang="de-DE" b="0" dirty="0"/>
              <a:t> (Anzahl der korrekten Vorhersagen)</a:t>
            </a:r>
          </a:p>
          <a:p>
            <a:pPr marL="0" marR="0" lvl="0" indent="0" algn="l" defTabSz="457200" rtl="0" eaLnBrk="1" fontAlgn="auto" latinLnBrk="0" hangingPunct="1">
              <a:lnSpc>
                <a:spcPct val="100000"/>
              </a:lnSpc>
              <a:spcBef>
                <a:spcPts val="0"/>
              </a:spcBef>
              <a:spcAft>
                <a:spcPts val="0"/>
              </a:spcAft>
              <a:buClrTx/>
              <a:buSzTx/>
              <a:buFontTx/>
              <a:buNone/>
              <a:tabLst/>
              <a:defRPr/>
            </a:pPr>
            <a:r>
              <a:rPr lang="de-DE" b="1" dirty="0">
                <a:sym typeface="Wingdings" panose="05000000000000000000" pitchFamily="2" charset="2"/>
              </a:rPr>
              <a:t> </a:t>
            </a:r>
            <a:r>
              <a:rPr lang="de-DE" b="0" dirty="0"/>
              <a:t>mein </a:t>
            </a:r>
            <a:r>
              <a:rPr lang="de-DE" b="1" dirty="0"/>
              <a:t>Ziel:</a:t>
            </a:r>
            <a:r>
              <a:rPr lang="de-DE" dirty="0"/>
              <a:t> Verstehen </a:t>
            </a:r>
            <a:r>
              <a:rPr lang="de-DE" i="1" dirty="0"/>
              <a:t>wie gut</a:t>
            </a:r>
            <a:r>
              <a:rPr lang="de-DE" dirty="0"/>
              <a:t> das Modell ist, nicht </a:t>
            </a:r>
            <a:r>
              <a:rPr lang="de-DE" i="1" dirty="0"/>
              <a:t>wo</a:t>
            </a:r>
            <a:r>
              <a:rPr lang="de-DE" dirty="0"/>
              <a:t> genau geschnitten wird.</a:t>
            </a:r>
          </a:p>
          <a:p>
            <a:pPr rtl="0"/>
            <a:r>
              <a:rPr lang="de-DE" dirty="0"/>
              <a:t>Sprich die Frage: </a:t>
            </a:r>
            <a:r>
              <a:rPr lang="de-DE" i="1" dirty="0"/>
              <a:t>„Welches Modell trennt Reagierer besser?“ anstatt </a:t>
            </a:r>
            <a:r>
              <a:rPr lang="de-DE" dirty="0"/>
              <a:t>„Wie viele High-Response-Kunden (Frühreagierer) finde ich bei begrenztem Budget?“ </a:t>
            </a:r>
            <a:r>
              <a:rPr lang="de-DE" dirty="0">
                <a:sym typeface="Wingdings" panose="05000000000000000000" pitchFamily="2" charset="2"/>
              </a:rPr>
              <a:t> das kommt später </a:t>
            </a:r>
            <a:endParaRPr lang="de-DE" dirty="0"/>
          </a:p>
          <a:p>
            <a:endParaRPr lang="de-DE" dirty="0"/>
          </a:p>
        </p:txBody>
      </p:sp>
    </p:spTree>
    <p:extLst>
      <p:ext uri="{BB962C8B-B14F-4D97-AF65-F5344CB8AC3E}">
        <p14:creationId xmlns:p14="http://schemas.microsoft.com/office/powerpoint/2010/main" val="61793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04EB8-A56D-8E86-0280-1E9E129F75B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E7F7CCF-B5D4-941B-9D4F-5E838BCDE3F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BD5A1C96-57FC-8C7F-9CA6-5EA03B225CE2}"/>
              </a:ext>
            </a:extLst>
          </p:cNvPr>
          <p:cNvSpPr>
            <a:spLocks noGrp="1"/>
          </p:cNvSpPr>
          <p:nvPr>
            <p:ph type="body" idx="1"/>
          </p:nvPr>
        </p:nvSpPr>
        <p:spPr>
          <a:xfrm>
            <a:off x="1371600" y="11734800"/>
            <a:ext cx="10972800" cy="9601200"/>
          </a:xfrm>
          <a:prstGeom prst="rect">
            <a:avLst/>
          </a:prstGeom>
        </p:spPr>
        <p:txBody>
          <a:bodyPr rtlCol="0"/>
          <a:lstStyle>
            <a:defPPr>
              <a:defRPr lang="de-DE"/>
            </a:defPPr>
          </a:lstStyle>
          <a:p>
            <a:pPr rtl="0"/>
            <a:endParaRPr lang="de-DE" dirty="0"/>
          </a:p>
        </p:txBody>
      </p:sp>
    </p:spTree>
    <p:extLst>
      <p:ext uri="{BB962C8B-B14F-4D97-AF65-F5344CB8AC3E}">
        <p14:creationId xmlns:p14="http://schemas.microsoft.com/office/powerpoint/2010/main" val="162690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p:cNvSpPr>
            <a:spLocks noGrp="1"/>
          </p:cNvSpPr>
          <p:nvPr>
            <p:ph type="body" idx="1"/>
          </p:nvPr>
        </p:nvSpPr>
        <p:spPr>
          <a:xfrm>
            <a:off x="1371600" y="11734800"/>
            <a:ext cx="10972800" cy="9601200"/>
          </a:xfrm>
          <a:prstGeom prst="rect">
            <a:avLst/>
          </a:prstGeom>
        </p:spPr>
        <p:txBody>
          <a:bodyPr rtlCol="0"/>
          <a:lstStyle>
            <a:defPPr>
              <a:defRPr lang="de-DE"/>
            </a:defPPr>
          </a:lstStyle>
          <a:p>
            <a:r>
              <a:rPr lang="de-DE" b="1" dirty="0"/>
              <a:t>Kein direkter Part des </a:t>
            </a:r>
            <a:r>
              <a:rPr lang="de-DE" b="1" dirty="0" err="1"/>
              <a:t>Machine</a:t>
            </a:r>
            <a:r>
              <a:rPr lang="de-DE" b="1" dirty="0"/>
              <a:t> </a:t>
            </a:r>
            <a:r>
              <a:rPr lang="de-DE" b="1" dirty="0" err="1"/>
              <a:t>Learnings</a:t>
            </a:r>
            <a:endParaRPr lang="de-DE" b="1" dirty="0"/>
          </a:p>
          <a:p>
            <a:endParaRPr lang="de-DE" b="1" dirty="0"/>
          </a:p>
          <a:p>
            <a:r>
              <a:rPr lang="de-DE" b="1" dirty="0"/>
              <a:t>Fragestellung:</a:t>
            </a:r>
          </a:p>
          <a:p>
            <a:pPr marL="0" marR="0" lvl="0" indent="0" algn="l" defTabSz="457200" rtl="0" eaLnBrk="1" fontAlgn="auto" latinLnBrk="0" hangingPunct="1">
              <a:lnSpc>
                <a:spcPct val="100000"/>
              </a:lnSpc>
              <a:spcBef>
                <a:spcPts val="0"/>
              </a:spcBef>
              <a:spcAft>
                <a:spcPts val="0"/>
              </a:spcAft>
              <a:buClrTx/>
              <a:buSzTx/>
              <a:buFontTx/>
              <a:buNone/>
              <a:tabLst/>
              <a:defRPr/>
            </a:pPr>
            <a:r>
              <a:rPr lang="de-DE" b="0" dirty="0"/>
              <a:t>Meine Vermutung war das sich hinter den Kampagnen ein Muster verbirgt. Also sprich Kunde 1 reagiert auf K1 aber auf K3 nicht, Kunde 2 reagiert auf K4 und auf K5 aber auf K6 nicht usw. also wie ist das Potenzial der Kunden</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b="1" dirty="0"/>
          </a:p>
          <a:p>
            <a:endParaRPr lang="de-DE" b="1" dirty="0"/>
          </a:p>
          <a:p>
            <a:r>
              <a:rPr lang="de-DE" b="1" dirty="0"/>
              <a:t>Was habe ich gemacht?</a:t>
            </a:r>
          </a:p>
          <a:p>
            <a:pPr marL="0" indent="0">
              <a:buNone/>
            </a:pPr>
            <a:r>
              <a:rPr lang="de-DE" b="0" dirty="0"/>
              <a:t>1. Diagramm </a:t>
            </a:r>
          </a:p>
          <a:p>
            <a:pPr marL="0" indent="0">
              <a:buNone/>
            </a:pPr>
            <a:r>
              <a:rPr lang="de-DE" b="0" dirty="0"/>
              <a:t>Erstellung von 7 Reaktionstypen mit 64 möglichen Zahlenkombinationen also Kampagnenmöglichkeiten bzw. Möglichkeiten der Kampagnenentscheidung,</a:t>
            </a:r>
          </a:p>
          <a:p>
            <a:r>
              <a:rPr lang="de-DE" b="0" dirty="0"/>
              <a:t>Sprich jede Zahl in der Zahlenkombination entspricht einer Kampagne, dafür steht 0 = keine Reaktion und 1 = Reaktion</a:t>
            </a:r>
          </a:p>
          <a:p>
            <a:endParaRPr lang="de-DE" b="0" dirty="0"/>
          </a:p>
          <a:p>
            <a:r>
              <a:rPr lang="de-DE" b="0" dirty="0"/>
              <a:t>Anzahl der Kunden = Datensatzlänge sprich 2240 Kunden, davon 1631 ohne Reaktion</a:t>
            </a:r>
          </a:p>
          <a:p>
            <a:r>
              <a:rPr lang="de-DE" b="0" dirty="0"/>
              <a:t>Grundsätzlich natürliches Verhalten von Kampagnen(unabhängig welche Art) das 70-90 % nie reagieren = das ist „normaler“ Wahnsinn im Marketing! </a:t>
            </a:r>
          </a:p>
          <a:p>
            <a:r>
              <a:rPr lang="de-DE" b="0" dirty="0"/>
              <a:t>Wir konzentrieren uns grundsätzlich auf alle anderen Reaktionstypen und versuchen diese zu upgraden!</a:t>
            </a:r>
          </a:p>
          <a:p>
            <a:endParaRPr lang="de-DE" b="0" dirty="0"/>
          </a:p>
          <a:p>
            <a:r>
              <a:rPr lang="de-DE" b="1" dirty="0"/>
              <a:t>„Sonstige“= </a:t>
            </a:r>
            <a:r>
              <a:rPr lang="de-DE" b="0" dirty="0"/>
              <a:t>erzeugtes Reaktionsmuster, die keinem klaren zeitlichen oder frequenzbasierten Verhalten zugeordnet werden können.</a:t>
            </a:r>
          </a:p>
          <a:p>
            <a:r>
              <a:rPr lang="de-DE" dirty="0">
                <a:sym typeface="Wingdings" panose="05000000000000000000" pitchFamily="2" charset="2"/>
              </a:rPr>
              <a:t> </a:t>
            </a:r>
            <a:r>
              <a:rPr lang="de-DE" dirty="0"/>
              <a:t>dient als methodisch notwendige Restgruppen für inkonsistente Reaktionsmuster und erhöht die Robustheit der Typologie</a:t>
            </a:r>
          </a:p>
          <a:p>
            <a:pPr rtl="0"/>
            <a:endParaRPr lang="de-DE" dirty="0"/>
          </a:p>
          <a:p>
            <a:pPr rtl="0"/>
            <a:r>
              <a:rPr lang="de-DE" b="1" dirty="0"/>
              <a:t>„Dauerreagierer“ </a:t>
            </a:r>
            <a:r>
              <a:rPr lang="de-DE" b="0" dirty="0"/>
              <a:t>= werden ebenfalls der Vollständigkeit definiert (ggf.) für zukünftige Auswertungen.</a:t>
            </a:r>
          </a:p>
        </p:txBody>
      </p:sp>
    </p:spTree>
    <p:extLst>
      <p:ext uri="{BB962C8B-B14F-4D97-AF65-F5344CB8AC3E}">
        <p14:creationId xmlns:p14="http://schemas.microsoft.com/office/powerpoint/2010/main" val="3068653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3D15-CB2F-9D5C-0AD4-B8B40046EF6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CA97F06-0CC9-9A98-59FF-124D3CD122F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4D079C5E-39F3-EC29-8F76-F7DF768BB1A6}"/>
              </a:ext>
            </a:extLst>
          </p:cNvPr>
          <p:cNvSpPr>
            <a:spLocks noGrp="1"/>
          </p:cNvSpPr>
          <p:nvPr>
            <p:ph type="body" idx="1"/>
          </p:nvPr>
        </p:nvSpPr>
        <p:spPr>
          <a:xfrm>
            <a:off x="1371600" y="11734800"/>
            <a:ext cx="10972800" cy="9601200"/>
          </a:xfrm>
          <a:prstGeom prst="rect">
            <a:avLst/>
          </a:prstGeom>
        </p:spPr>
        <p:txBody>
          <a:bodyPr rtlCol="0"/>
          <a:lstStyle>
            <a:defPPr>
              <a:defRPr lang="de-DE"/>
            </a:defPPr>
          </a:lstStyle>
          <a:p>
            <a:r>
              <a:rPr lang="de-DE" dirty="0"/>
              <a:t>…bestätigt, dass die Reaktions-Sequenz-Typologie </a:t>
            </a:r>
            <a:r>
              <a:rPr lang="de-DE" b="1" dirty="0"/>
              <a:t>kein Zufallsprodukt</a:t>
            </a:r>
            <a:r>
              <a:rPr lang="de-DE" dirty="0"/>
              <a:t>, sondern eine </a:t>
            </a:r>
            <a:r>
              <a:rPr lang="de-DE" b="1" dirty="0"/>
              <a:t>konsistente Segmentierung</a:t>
            </a:r>
            <a:r>
              <a:rPr lang="de-DE" dirty="0"/>
              <a:t> ist.</a:t>
            </a:r>
          </a:p>
          <a:p>
            <a:endParaRPr lang="de-DE" dirty="0"/>
          </a:p>
          <a:p>
            <a:r>
              <a:rPr lang="de-DE" b="0" dirty="0"/>
              <a:t>Früh-Reagierer  - reagieren einmal und die wieder</a:t>
            </a:r>
            <a:br>
              <a:rPr lang="de-DE" b="0" dirty="0"/>
            </a:br>
            <a:endParaRPr lang="de-DE" b="0" dirty="0"/>
          </a:p>
          <a:p>
            <a:r>
              <a:rPr lang="de-DE" b="0" dirty="0"/>
              <a:t>Spätis reagieren wer hätte es gedacht – spät </a:t>
            </a:r>
          </a:p>
          <a:p>
            <a:endParaRPr lang="de-DE" b="0" dirty="0"/>
          </a:p>
          <a:p>
            <a:r>
              <a:rPr lang="de-DE" b="0" dirty="0"/>
              <a:t>Gelegenheits-Reagierer reagieren unregelmäßig und kampagnenspezifisch. </a:t>
            </a:r>
          </a:p>
          <a:p>
            <a:r>
              <a:rPr lang="de-DE" b="0" dirty="0"/>
              <a:t>Reaktion stark von Angebot, Kanal oder Timing abhängig.</a:t>
            </a:r>
          </a:p>
          <a:p>
            <a:endParaRPr lang="de-DE" b="0" dirty="0"/>
          </a:p>
          <a:p>
            <a:r>
              <a:rPr lang="de-DE" b="0" dirty="0"/>
              <a:t>Nie-Reagierer – ja tatsächlich reagieren sie nie </a:t>
            </a:r>
            <a:r>
              <a:rPr lang="de-DE" b="0" dirty="0">
                <a:sym typeface="Wingdings" panose="05000000000000000000" pitchFamily="2" charset="2"/>
              </a:rPr>
              <a:t> </a:t>
            </a:r>
            <a:br>
              <a:rPr lang="de-DE" b="0" dirty="0"/>
            </a:br>
            <a:endParaRPr lang="de-DE" b="0" dirty="0"/>
          </a:p>
          <a:p>
            <a:br>
              <a:rPr lang="de-DE" dirty="0"/>
            </a:br>
            <a:endParaRPr lang="de-DE" dirty="0"/>
          </a:p>
          <a:p>
            <a:endParaRPr lang="de-DE" i="1" dirty="0"/>
          </a:p>
        </p:txBody>
      </p:sp>
    </p:spTree>
    <p:extLst>
      <p:ext uri="{BB962C8B-B14F-4D97-AF65-F5344CB8AC3E}">
        <p14:creationId xmlns:p14="http://schemas.microsoft.com/office/powerpoint/2010/main" val="76321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7467C-104B-5C56-2E56-D9C2AE04921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4AC3AB8-A6CB-2483-327F-87AA7F04FFE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845274FE-BD0A-F62F-F9A1-DE80B991CE8F}"/>
              </a:ext>
            </a:extLst>
          </p:cNvPr>
          <p:cNvSpPr>
            <a:spLocks noGrp="1"/>
          </p:cNvSpPr>
          <p:nvPr>
            <p:ph type="body" idx="1"/>
          </p:nvPr>
        </p:nvSpPr>
        <p:spPr>
          <a:xfrm>
            <a:off x="1371600" y="11734800"/>
            <a:ext cx="10972800" cy="9601200"/>
          </a:xfrm>
          <a:prstGeom prst="rect">
            <a:avLst/>
          </a:prstGeom>
        </p:spPr>
        <p:txBody>
          <a:bodyPr rtlCol="0"/>
          <a:lstStyle>
            <a:defPPr>
              <a:defRPr lang="de-DE"/>
            </a:defPPr>
          </a:lstStyle>
          <a:p>
            <a:r>
              <a:rPr lang="de-DE" i="0" dirty="0"/>
              <a:t>Dann habe ich die vorhergehenden Erkenntnisse also sprich Reaktionstypen + Kampagnen den sozio-demografischen Aspekten (Alter, Kaufkanälen, Einkommen) vorgenommen, um ein noch differenzierteres Kundenmuster aufzuzeigen.</a:t>
            </a:r>
          </a:p>
          <a:p>
            <a:endParaRPr lang="de-DE" i="0" dirty="0"/>
          </a:p>
          <a:p>
            <a:r>
              <a:rPr lang="de-DE" i="0" dirty="0"/>
              <a:t>Es handelt sich bei der </a:t>
            </a:r>
            <a:r>
              <a:rPr lang="de-DE" b="0" i="0" dirty="0"/>
              <a:t>Darstellung lediglich um </a:t>
            </a:r>
            <a:r>
              <a:rPr lang="de-DE" b="1" i="0" dirty="0"/>
              <a:t>überdurchschnittliche </a:t>
            </a:r>
            <a:r>
              <a:rPr lang="de-DE" b="0" i="0" dirty="0"/>
              <a:t>Häufigkeit je Reaktionstyp</a:t>
            </a:r>
          </a:p>
          <a:p>
            <a:r>
              <a:rPr lang="de-DE" b="0" i="0" dirty="0">
                <a:sym typeface="Wingdings" panose="05000000000000000000" pitchFamily="2" charset="2"/>
              </a:rPr>
              <a:t></a:t>
            </a:r>
            <a:r>
              <a:rPr lang="de-DE" b="0" i="0" dirty="0"/>
              <a:t> Heißt nicht, dass grundsätzlich Nie-Reagierer alt sind</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i="0"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Lange Kundendauer erhöht die Vorhersagbarkeit und Stabilität des Reaktionsverhaltens, nicht zwingend die Reaktionshäufigkeit.</a:t>
            </a:r>
          </a:p>
          <a:p>
            <a:endParaRPr lang="de-DE" b="1" dirty="0"/>
          </a:p>
          <a:p>
            <a:endParaRPr lang="de-DE" i="1" dirty="0"/>
          </a:p>
          <a:p>
            <a:endParaRPr lang="de-DE" i="1" dirty="0"/>
          </a:p>
          <a:p>
            <a:endParaRPr lang="de-DE" i="1" dirty="0"/>
          </a:p>
          <a:p>
            <a:endParaRPr lang="de-DE" dirty="0"/>
          </a:p>
          <a:p>
            <a:pPr rtl="0"/>
            <a:endParaRPr lang="de-DE" dirty="0"/>
          </a:p>
        </p:txBody>
      </p:sp>
    </p:spTree>
    <p:extLst>
      <p:ext uri="{BB962C8B-B14F-4D97-AF65-F5344CB8AC3E}">
        <p14:creationId xmlns:p14="http://schemas.microsoft.com/office/powerpoint/2010/main" val="492408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D5193-A67B-E68E-A238-92E630233E6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F247DFB-4939-41ED-9E92-71B593A87E6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31C56590-801C-4A84-A3FE-205FF9019D83}"/>
              </a:ext>
            </a:extLst>
          </p:cNvPr>
          <p:cNvSpPr>
            <a:spLocks noGrp="1"/>
          </p:cNvSpPr>
          <p:nvPr>
            <p:ph type="body" idx="1"/>
          </p:nvPr>
        </p:nvSpPr>
        <p:spPr>
          <a:xfrm>
            <a:off x="1371600" y="11734800"/>
            <a:ext cx="10972800" cy="9601200"/>
          </a:xfrm>
          <a:prstGeom prst="rect">
            <a:avLst/>
          </a:prstGeom>
        </p:spPr>
        <p:txBody>
          <a:bodyPr rtlCol="0"/>
          <a:lstStyle>
            <a:defPPr>
              <a:defRPr lang="de-DE"/>
            </a:defP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Markov-Analyse dient der genauen prozentualen Erkennung der Übergänge zwischen den einzelnen Reaktionstypen und deren Verhalten auf die erste und auf die nächste Kampagne. Also sprich ich habe Reaktionstypen bestimmt, Reaktionsmuster erkannt und nun will ich wissen, wie die Kunden prozentual zwischen den Kampagnen reagieren. Dies dient nur dem allgemeinen Kundenverständnis, Markov-Ketten treffen in dem Fall keine Vorhersage bzw. können dies nur bedingt.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b="0" dirty="0"/>
              <a:t>Die Markov-Ketten beinhalten </a:t>
            </a:r>
            <a:r>
              <a:rPr lang="de-DE" b="0" i="1" dirty="0"/>
              <a:t>alle 6 Kampagnen</a:t>
            </a:r>
            <a:r>
              <a:rPr lang="de-DE" b="0" dirty="0"/>
              <a:t>, nicht nur 2×2-obwohl dies je Kunden so sichtbar ist, aber es zeigt nur die Zustände (Reaktion, keine Reaktion), nicht Anzahl der Kampagnen.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Y-Achse = aktueller Zustand t</a:t>
            </a:r>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X-Achse = nächster Zustand t+1</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r>
              <a:rPr lang="de-DE" b="1" dirty="0"/>
              <a:t>Was passiert im Hintergrund (wichtig!)</a:t>
            </a:r>
          </a:p>
          <a:p>
            <a:r>
              <a:rPr lang="de-DE" b="1" dirty="0"/>
              <a:t>Für jeden Kunden werden alle Übergänge gezählt:</a:t>
            </a:r>
          </a:p>
          <a:p>
            <a:r>
              <a:rPr lang="de-DE" dirty="0"/>
              <a:t>Kampagne 1 → 2</a:t>
            </a:r>
          </a:p>
          <a:p>
            <a:r>
              <a:rPr lang="de-DE" dirty="0"/>
              <a:t>Kampagne 2 → 3</a:t>
            </a:r>
          </a:p>
          <a:p>
            <a:r>
              <a:rPr lang="de-DE" dirty="0"/>
              <a:t>Kampagne 3 → 4</a:t>
            </a:r>
          </a:p>
          <a:p>
            <a:r>
              <a:rPr lang="de-DE" dirty="0"/>
              <a:t>Kampagne 4 → 5</a:t>
            </a:r>
          </a:p>
          <a:p>
            <a:r>
              <a:rPr lang="de-DE" dirty="0"/>
              <a:t>Kampagne 5 → letzte Kampagne</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Dann werden Kunden zusammengeworfen und gezählt:</a:t>
            </a:r>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0 → 0 keine Reaktion – keine Reaktion</a:t>
            </a:r>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0 → 1 keine Reaktion - Reaktion</a:t>
            </a:r>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1 → 0 Reaktion – keine Reaktion</a:t>
            </a:r>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1 → 1 Reaktion – Reaktion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r>
              <a:rPr lang="de-DE" dirty="0"/>
              <a:t>Ein Kunde mit Reaktionsmuster:</a:t>
            </a:r>
            <a:br>
              <a:rPr lang="de-DE" dirty="0"/>
            </a:br>
            <a:r>
              <a:rPr lang="de-DE" sz="600" kern="1200" dirty="0">
                <a:solidFill>
                  <a:schemeClr val="tx1"/>
                </a:solidFill>
                <a:latin typeface="+mn-lt"/>
                <a:ea typeface="+mn-ea"/>
                <a:cs typeface="+mn-cs"/>
              </a:rPr>
              <a:t>0 1 1 0 1 0</a:t>
            </a:r>
            <a:endParaRPr lang="de-DE" dirty="0"/>
          </a:p>
          <a:p>
            <a:r>
              <a:rPr lang="de-DE" dirty="0"/>
              <a:t>liefert folgende Übergänge:</a:t>
            </a:r>
          </a:p>
          <a:p>
            <a:r>
              <a:rPr lang="de-DE" dirty="0"/>
              <a:t>0 → 1</a:t>
            </a:r>
          </a:p>
          <a:p>
            <a:r>
              <a:rPr lang="de-DE" dirty="0"/>
              <a:t>1 → 1</a:t>
            </a:r>
          </a:p>
          <a:p>
            <a:r>
              <a:rPr lang="de-DE" dirty="0"/>
              <a:t>1 → 0</a:t>
            </a:r>
          </a:p>
          <a:p>
            <a:r>
              <a:rPr lang="de-DE" dirty="0"/>
              <a:t>0 → 1</a:t>
            </a:r>
          </a:p>
          <a:p>
            <a:r>
              <a:rPr lang="de-DE" dirty="0"/>
              <a:t>1 → 0</a:t>
            </a:r>
          </a:p>
          <a:p>
            <a:r>
              <a:rPr lang="de-DE" dirty="0"/>
              <a:t>Diese gehen </a:t>
            </a:r>
            <a:r>
              <a:rPr lang="de-DE" b="1" dirty="0"/>
              <a:t>alle</a:t>
            </a:r>
            <a:r>
              <a:rPr lang="de-DE" dirty="0"/>
              <a:t> in die Markov-Matrix ein.</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Wie lese ich das?</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r>
              <a:rPr lang="de-DE" b="1" dirty="0"/>
              <a:t>Nie-Reagierer: </a:t>
            </a:r>
            <a:r>
              <a:rPr lang="de-DE" b="0" dirty="0"/>
              <a:t>reagiert mit </a:t>
            </a:r>
            <a:r>
              <a:rPr lang="de-DE" b="0" i="1" dirty="0"/>
              <a:t>100 % Wahrscheinlichkeit auch in der nächsten Kampagne nicht.</a:t>
            </a:r>
            <a:endParaRPr lang="de-DE" b="0" dirty="0"/>
          </a:p>
          <a:p>
            <a:r>
              <a:rPr lang="de-DE" b="1" dirty="0"/>
              <a:t>Früh-Reagierer: </a:t>
            </a:r>
            <a:r>
              <a:rPr lang="de-DE" b="0" dirty="0"/>
              <a:t>zu </a:t>
            </a:r>
            <a:r>
              <a:rPr lang="de-DE" b="0" i="1" dirty="0"/>
              <a:t>100 % reagiert, heißt er reagiert kein zweites mal</a:t>
            </a:r>
            <a:endParaRPr lang="de-DE" b="0" dirty="0"/>
          </a:p>
          <a:p>
            <a:r>
              <a:rPr lang="de-DE" b="1" dirty="0"/>
              <a:t>Gelegenheits-Reagierer: </a:t>
            </a:r>
            <a:r>
              <a:rPr lang="de-DE" b="0" dirty="0"/>
              <a:t>reagiert  mit </a:t>
            </a:r>
            <a:r>
              <a:rPr lang="de-DE" b="0" i="1" dirty="0"/>
              <a:t>96 % Wahrscheinlichkeit, reagiert bei der nächsten K wahrscheinlich um 28 %. Nicht.</a:t>
            </a:r>
            <a:endParaRPr lang="de-DE" b="0" dirty="0"/>
          </a:p>
          <a:p>
            <a:r>
              <a:rPr lang="de-DE" b="1" dirty="0"/>
              <a:t>Mehrfach-Reagierer: </a:t>
            </a:r>
            <a:r>
              <a:rPr lang="de-DE" i="1" dirty="0"/>
              <a:t>Nach einer Reaktion folgt </a:t>
            </a:r>
            <a:r>
              <a:rPr lang="de-DE" b="0" i="1" dirty="0"/>
              <a:t>mit 85 % Wahrscheinlichkeit wieder eine Reaktion.</a:t>
            </a:r>
            <a:endParaRPr lang="de-DE" b="0" dirty="0"/>
          </a:p>
          <a:p>
            <a:r>
              <a:rPr lang="de-DE" b="1" dirty="0"/>
              <a:t>Spät-Reagierer: </a:t>
            </a:r>
            <a:r>
              <a:rPr lang="de-DE" i="1" dirty="0"/>
              <a:t>bleiben nach einer Nicht-Reaktion häufig passiv (56</a:t>
            </a:r>
            <a:r>
              <a:rPr lang="de-DE" b="1" i="1" dirty="0"/>
              <a:t> %</a:t>
            </a:r>
            <a:r>
              <a:rPr lang="de-DE" i="1" dirty="0"/>
              <a:t>), lassen sich aber mit 44</a:t>
            </a:r>
            <a:r>
              <a:rPr lang="de-DE" b="1" i="1" dirty="0"/>
              <a:t> % Wahrscheinlichkeit</a:t>
            </a:r>
            <a:r>
              <a:rPr lang="de-DE" i="1" dirty="0"/>
              <a:t> durch wiederholte Ansprache aktivieren</a:t>
            </a:r>
          </a:p>
          <a:p>
            <a:endParaRPr lang="de-DE"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b="1" dirty="0"/>
              <a:t>2. Diagramm</a:t>
            </a:r>
          </a:p>
          <a:p>
            <a:r>
              <a:rPr lang="de-DE" b="0" dirty="0"/>
              <a:t>Die Übergänge zwischen den Cluster sind identisch - Das Reaktionsverhalten wird stärker durch Kundentypen als durch Kampagnencluster geprägt.</a:t>
            </a:r>
          </a:p>
          <a:p>
            <a:pPr marL="0" marR="0" lvl="0" indent="0" algn="l" defTabSz="457200" rtl="0" eaLnBrk="1" fontAlgn="auto" latinLnBrk="0" hangingPunct="1">
              <a:lnSpc>
                <a:spcPct val="100000"/>
              </a:lnSpc>
              <a:spcBef>
                <a:spcPts val="0"/>
              </a:spcBef>
              <a:spcAft>
                <a:spcPts val="0"/>
              </a:spcAft>
              <a:buClrTx/>
              <a:buSzTx/>
              <a:buFontTx/>
              <a:buNone/>
              <a:tabLst/>
              <a:defRPr/>
            </a:pPr>
            <a:endParaRPr lang="de-DE" dirty="0"/>
          </a:p>
        </p:txBody>
      </p:sp>
    </p:spTree>
    <p:extLst>
      <p:ext uri="{BB962C8B-B14F-4D97-AF65-F5344CB8AC3E}">
        <p14:creationId xmlns:p14="http://schemas.microsoft.com/office/powerpoint/2010/main" val="635544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80DBA-CE31-AD7F-8709-481AA8D1774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A2FDB74-9B57-FDD0-10B8-700B77580A0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5322DA72-0C4F-1A0C-D5FC-E5FCF31D7579}"/>
              </a:ext>
            </a:extLst>
          </p:cNvPr>
          <p:cNvSpPr>
            <a:spLocks noGrp="1"/>
          </p:cNvSpPr>
          <p:nvPr>
            <p:ph type="body" idx="1"/>
          </p:nvPr>
        </p:nvSpPr>
        <p:spPr>
          <a:xfrm>
            <a:off x="1371600" y="11734800"/>
            <a:ext cx="10972800" cy="9601200"/>
          </a:xfrm>
          <a:prstGeom prst="rect">
            <a:avLst/>
          </a:prstGeom>
        </p:spPr>
        <p:txBody>
          <a:bodyPr rtlCol="0"/>
          <a:lstStyle>
            <a:defPPr>
              <a:defRPr lang="de-DE"/>
            </a:defPPr>
          </a:lstStyle>
          <a:p>
            <a:pPr rtl="0"/>
            <a:r>
              <a:rPr lang="de-DE" dirty="0" err="1"/>
              <a:t>LogReg</a:t>
            </a:r>
            <a:r>
              <a:rPr lang="de-DE" dirty="0"/>
              <a:t> = Berechnung der Wahrscheinlichkeit, mit der ein Kunde auf eine Kampagne reagiert, auf Basis eines linearen Zusammenhangs zwischen Kundenmerkmalen und Reaktion. (transparentes Entscheidungsmodell)</a:t>
            </a:r>
          </a:p>
          <a:p>
            <a:pPr rtl="0"/>
            <a:endParaRPr lang="de-DE" dirty="0"/>
          </a:p>
          <a:p>
            <a:pPr rtl="0"/>
            <a:r>
              <a:rPr lang="de-DE" dirty="0"/>
              <a:t>Ein Random Forest kombiniert viele Entscheidungsbäume, die unterschiedliche Kundenmuster lernen, und aggregiert deren Ergebnisse zu einer stabilen Vorhersage.</a:t>
            </a:r>
          </a:p>
          <a:p>
            <a:pPr rtl="0"/>
            <a:r>
              <a:rPr lang="de-DE" b="1" dirty="0">
                <a:sym typeface="Wingdings" panose="05000000000000000000" pitchFamily="2" charset="2"/>
              </a:rPr>
              <a:t> </a:t>
            </a:r>
            <a:r>
              <a:rPr lang="de-DE" dirty="0"/>
              <a:t>leistungsstarker Benchmark für komplexe Muster (also für mein Ziel sinnvoller) , robuster gegenüber Ausreisern (Thema Wein, Alter) und Korrelationen, besser bei nichtlinearen Variablen</a:t>
            </a:r>
          </a:p>
        </p:txBody>
      </p:sp>
    </p:spTree>
    <p:extLst>
      <p:ext uri="{BB962C8B-B14F-4D97-AF65-F5344CB8AC3E}">
        <p14:creationId xmlns:p14="http://schemas.microsoft.com/office/powerpoint/2010/main" val="3660456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B08E9-F8B6-FE6D-383C-ECDA5338A5D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111C404-956E-A2CC-071E-EAE7E6B431F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0854A9A1-7095-694B-0364-53297C395369}"/>
              </a:ext>
            </a:extLst>
          </p:cNvPr>
          <p:cNvSpPr>
            <a:spLocks noGrp="1"/>
          </p:cNvSpPr>
          <p:nvPr>
            <p:ph type="body" idx="1"/>
          </p:nvPr>
        </p:nvSpPr>
        <p:spPr>
          <a:xfrm>
            <a:off x="1371600" y="11734800"/>
            <a:ext cx="10972800" cy="9601200"/>
          </a:xfrm>
          <a:prstGeom prst="rect">
            <a:avLst/>
          </a:prstGeom>
        </p:spPr>
        <p:txBody>
          <a:bodyPr rtlCol="0"/>
          <a:lstStyle>
            <a:defPPr>
              <a:defRPr lang="de-DE"/>
            </a:defPPr>
          </a:lstStyle>
          <a:p>
            <a:pPr marL="228600" indent="-228600">
              <a:buAutoNum type="arabicPeriod"/>
            </a:pPr>
            <a:r>
              <a:rPr lang="de-DE" b="1" dirty="0"/>
              <a:t>Diagramm </a:t>
            </a:r>
          </a:p>
          <a:p>
            <a:pPr marL="228600" indent="-228600">
              <a:buAutoNum type="arabicPeriod"/>
            </a:pPr>
            <a:r>
              <a:rPr lang="de-DE" b="1" dirty="0"/>
              <a:t>ROC/AUC = </a:t>
            </a:r>
            <a:r>
              <a:rPr lang="de-DE" b="0" dirty="0"/>
              <a:t>Messung bzw. Unterscheidung zwischen </a:t>
            </a:r>
            <a:r>
              <a:rPr lang="de-DE" dirty="0"/>
              <a:t>High-Response-Kunde von Nicht-High-Response-Kunde</a:t>
            </a:r>
            <a:endParaRPr lang="de-DE" b="1" dirty="0"/>
          </a:p>
          <a:p>
            <a:r>
              <a:rPr lang="de-DE" b="0" dirty="0"/>
              <a:t>- Ihr erinnert euch: ich habe Kundentypen definiert für die 6 Kampagnen </a:t>
            </a:r>
            <a:r>
              <a:rPr lang="de-DE" b="0" dirty="0">
                <a:sym typeface="Wingdings" panose="05000000000000000000" pitchFamily="2" charset="2"/>
              </a:rPr>
              <a:t></a:t>
            </a:r>
            <a:r>
              <a:rPr lang="de-DE" b="0" dirty="0"/>
              <a:t>  </a:t>
            </a:r>
            <a:r>
              <a:rPr lang="de-DE" b="0" i="1" dirty="0"/>
              <a:t>Früh-Reagierer = High-Response Kunden</a:t>
            </a:r>
            <a:endParaRPr lang="de-DE" b="0" dirty="0"/>
          </a:p>
          <a:p>
            <a:pPr lvl="1"/>
            <a:endParaRPr lang="de-DE" i="1" dirty="0"/>
          </a:p>
          <a:p>
            <a:r>
              <a:rPr lang="de-DE" dirty="0">
                <a:sym typeface="Wingdings" panose="05000000000000000000" pitchFamily="2" charset="2"/>
              </a:rPr>
              <a:t> </a:t>
            </a:r>
            <a:r>
              <a:rPr lang="de-DE" dirty="0"/>
              <a:t>Diese </a:t>
            </a:r>
            <a:r>
              <a:rPr lang="de-DE" b="0" dirty="0"/>
              <a:t>Kunden sind besonders wertvoll, da sie schnell aktivierbar oder langfristig loyal sind.</a:t>
            </a:r>
          </a:p>
          <a:p>
            <a:br>
              <a:rPr lang="de-DE" dirty="0"/>
            </a:br>
            <a:r>
              <a:rPr lang="de-DE" b="0" dirty="0"/>
              <a:t>Anteil der High-Response-Kunden (39 an der Zahl) </a:t>
            </a:r>
          </a:p>
          <a:p>
            <a:r>
              <a:rPr lang="de-DE" b="0" dirty="0"/>
              <a:t>High-Response = 6,4 %</a:t>
            </a:r>
          </a:p>
          <a:p>
            <a:r>
              <a:rPr lang="de-DE" b="0" dirty="0"/>
              <a:t>Nicht-High-Response = 93,6 %</a:t>
            </a:r>
          </a:p>
          <a:p>
            <a:endParaRPr lang="de-DE" dirty="0"/>
          </a:p>
          <a:p>
            <a:r>
              <a:rPr lang="de-DE" dirty="0"/>
              <a:t>Zwischen </a:t>
            </a:r>
            <a:r>
              <a:rPr lang="de-DE" dirty="0" err="1"/>
              <a:t>Log.Reg</a:t>
            </a:r>
            <a:r>
              <a:rPr lang="de-DE" dirty="0"/>
              <a:t> und Random Forest minimaler Unterschied, heißt beide Modelle sind top – Log. Reg. sogar etwas besser!</a:t>
            </a:r>
          </a:p>
          <a:p>
            <a:endParaRPr lang="de-DE" dirty="0"/>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de-DE" dirty="0">
                <a:sym typeface="Wingdings" panose="05000000000000000000" pitchFamily="2" charset="2"/>
              </a:rPr>
              <a:t>  Für Random Forest entschieden da leistungsstärker für komplexe Muster, </a:t>
            </a:r>
            <a:r>
              <a:rPr lang="de-DE" dirty="0"/>
              <a:t>robuster gegenüber Ausreisern (Thema Wein, Alter) und Korrelationen, besser bei nichtlinearen Variablen und</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de-DE" dirty="0"/>
              <a:t> </a:t>
            </a:r>
            <a:r>
              <a:rPr lang="de-DE" dirty="0">
                <a:sym typeface="Wingdings" panose="05000000000000000000" pitchFamily="2" charset="2"/>
              </a:rPr>
              <a:t> um besser auf Feature </a:t>
            </a:r>
            <a:r>
              <a:rPr lang="de-DE" dirty="0" err="1">
                <a:sym typeface="Wingdings" panose="05000000000000000000" pitchFamily="2" charset="2"/>
              </a:rPr>
              <a:t>Importance</a:t>
            </a:r>
            <a:r>
              <a:rPr lang="de-DE" dirty="0">
                <a:sym typeface="Wingdings" panose="05000000000000000000" pitchFamily="2" charset="2"/>
              </a:rPr>
              <a:t> aufzubauen</a:t>
            </a:r>
          </a:p>
          <a:p>
            <a:pPr marL="0" indent="0">
              <a:buFont typeface="Wingdings" panose="05000000000000000000" pitchFamily="2" charset="2"/>
              <a:buNone/>
            </a:pPr>
            <a:endParaRPr lang="de-DE" dirty="0"/>
          </a:p>
          <a:p>
            <a:pPr marL="0" indent="0">
              <a:buFont typeface="Wingdings" panose="05000000000000000000" pitchFamily="2" charset="2"/>
              <a:buNone/>
            </a:pPr>
            <a:r>
              <a:rPr lang="de-DE" dirty="0"/>
              <a:t>++++</a:t>
            </a:r>
          </a:p>
          <a:p>
            <a:pPr marL="0" indent="0">
              <a:buFont typeface="Wingdings" panose="05000000000000000000" pitchFamily="2" charset="2"/>
              <a:buNone/>
            </a:pPr>
            <a:br>
              <a:rPr lang="de-DE" dirty="0"/>
            </a:br>
            <a:r>
              <a:rPr lang="de-DE" b="1" dirty="0"/>
              <a:t>2. Diagramm </a:t>
            </a:r>
          </a:p>
          <a:p>
            <a:pPr marL="0" indent="0">
              <a:buFont typeface="Wingdings" panose="05000000000000000000" pitchFamily="2" charset="2"/>
              <a:buNone/>
            </a:pPr>
            <a:r>
              <a:rPr lang="de-DE" b="1" dirty="0"/>
              <a:t>= </a:t>
            </a:r>
            <a:r>
              <a:rPr lang="de-DE" b="0" dirty="0"/>
              <a:t>auf Random Forest Bestimmung Precision-Recall-Kurve</a:t>
            </a:r>
          </a:p>
          <a:p>
            <a:endParaRPr lang="de-DE" sz="700" b="0" dirty="0"/>
          </a:p>
          <a:p>
            <a:r>
              <a:rPr lang="de-DE" sz="700" b="0" dirty="0"/>
              <a:t>Recall = Trefferquote aller High-Response-Kunden </a:t>
            </a:r>
          </a:p>
          <a:p>
            <a:r>
              <a:rPr lang="de-DE" sz="700" b="0" dirty="0"/>
              <a:t>Beispiel-&gt; 0.3 sind 30% -- „Wie viele der </a:t>
            </a:r>
            <a:r>
              <a:rPr lang="de-DE" sz="700" b="0" i="1" dirty="0"/>
              <a:t>wirklich</a:t>
            </a:r>
            <a:r>
              <a:rPr lang="de-DE" sz="700" b="0" dirty="0"/>
              <a:t> High-Response-Kunden finde ich?“</a:t>
            </a:r>
          </a:p>
          <a:p>
            <a:endParaRPr lang="de-DE" sz="700" b="0" dirty="0"/>
          </a:p>
          <a:p>
            <a:r>
              <a:rPr lang="de-DE" sz="700" b="0" dirty="0"/>
              <a:t>Precision = Trefferquote der Vorhersage</a:t>
            </a:r>
          </a:p>
          <a:p>
            <a:r>
              <a:rPr lang="de-DE" sz="700" b="0" dirty="0"/>
              <a:t>-&gt; 0.2 </a:t>
            </a:r>
            <a:r>
              <a:rPr lang="de-DE" sz="700" b="0" dirty="0">
                <a:sym typeface="Wingdings" panose="05000000000000000000" pitchFamily="2" charset="2"/>
              </a:rPr>
              <a:t> 80% Streuverlust</a:t>
            </a:r>
          </a:p>
          <a:p>
            <a:endParaRPr lang="de-DE" sz="700" b="0" dirty="0"/>
          </a:p>
          <a:p>
            <a:pPr marL="0" indent="0">
              <a:buFont typeface="Wingdings" panose="05000000000000000000" pitchFamily="2" charset="2"/>
              <a:buNone/>
            </a:pPr>
            <a:r>
              <a:rPr lang="de-DE" sz="700" dirty="0"/>
              <a:t>Threshold = sind entlang der Linie verteilt </a:t>
            </a:r>
            <a:r>
              <a:rPr lang="de-DE" sz="700" dirty="0">
                <a:sym typeface="Wingdings" panose="05000000000000000000" pitchFamily="2" charset="2"/>
              </a:rPr>
              <a:t> Schwellenwert zur besseren Teilung der beiden Parteien</a:t>
            </a:r>
            <a:endParaRPr lang="de-DE" sz="700" dirty="0"/>
          </a:p>
          <a:p>
            <a:pPr marL="0" marR="0" lvl="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de-DE" sz="700" b="0" dirty="0"/>
          </a:p>
          <a:p>
            <a:pPr marL="0" marR="0" lvl="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700" b="1" dirty="0"/>
              <a:t>Bedeutet grundsätzlich:  </a:t>
            </a:r>
            <a:r>
              <a:rPr lang="de-DE" sz="700" b="0" dirty="0"/>
              <a:t>Je mehr Menschen du erreichst (Recall), desto mehr erreichst du auch die falschen (Streuverlust) – und umgekehrt.</a:t>
            </a:r>
          </a:p>
          <a:p>
            <a:pPr marL="0" indent="0">
              <a:buFont typeface="Wingdings" panose="05000000000000000000" pitchFamily="2" charset="2"/>
              <a:buNone/>
            </a:pPr>
            <a:endParaRPr lang="de-DE" sz="700" dirty="0"/>
          </a:p>
          <a:p>
            <a:pPr marL="0" marR="0" lvl="0" indent="0" algn="l" defTabSz="457200" rtl="0" eaLnBrk="1" fontAlgn="auto" latinLnBrk="0" hangingPunct="1">
              <a:lnSpc>
                <a:spcPct val="100000"/>
              </a:lnSpc>
              <a:spcBef>
                <a:spcPts val="0"/>
              </a:spcBef>
              <a:spcAft>
                <a:spcPts val="0"/>
              </a:spcAft>
              <a:buClrTx/>
              <a:buSzTx/>
              <a:buFontTx/>
              <a:buNone/>
              <a:tabLst/>
              <a:defRPr/>
            </a:pPr>
            <a:r>
              <a:rPr lang="de-DE" sz="700" dirty="0" err="1"/>
              <a:t>Zb</a:t>
            </a:r>
            <a:r>
              <a:rPr lang="de-DE" sz="700" dirty="0"/>
              <a:t> möchte ich 70% der High Response Kunden finden – heißt Vorhersage liegt bei 8-10% mit einem Threshold von 0.69 (steht im Code)</a:t>
            </a:r>
          </a:p>
          <a:p>
            <a:endParaRPr lang="de-DE" sz="700" dirty="0"/>
          </a:p>
          <a:p>
            <a:endParaRPr lang="de-DE" sz="700" dirty="0"/>
          </a:p>
          <a:p>
            <a:r>
              <a:rPr lang="de-DE" sz="700" b="1" dirty="0"/>
              <a:t>AP = 0.111 bedeutet</a:t>
            </a:r>
          </a:p>
          <a:p>
            <a:r>
              <a:rPr lang="de-DE" sz="700" dirty="0"/>
              <a:t>Im Durchschnitt sind </a:t>
            </a:r>
            <a:r>
              <a:rPr lang="de-DE" sz="700" b="1" dirty="0"/>
              <a:t>nur ~11 % der angesprochenen Kunden echte High-Response-Kunden</a:t>
            </a:r>
            <a:r>
              <a:rPr lang="de-DE" sz="700" dirty="0"/>
              <a:t>, wenn du über alle Schwellenwerte gehst.</a:t>
            </a:r>
          </a:p>
          <a:p>
            <a:pPr marL="0" indent="0">
              <a:buFont typeface="Wingdings" panose="05000000000000000000" pitchFamily="2" charset="2"/>
              <a:buNone/>
            </a:pPr>
            <a:endParaRPr lang="de-DE" sz="700" dirty="0"/>
          </a:p>
          <a:p>
            <a:pPr marL="0" indent="0">
              <a:buFont typeface="Wingdings" panose="05000000000000000000" pitchFamily="2" charset="2"/>
              <a:buNone/>
            </a:pPr>
            <a:r>
              <a:rPr lang="de-DE" sz="700" dirty="0"/>
              <a:t>++++</a:t>
            </a:r>
          </a:p>
          <a:p>
            <a:pPr marL="0" indent="0">
              <a:buFont typeface="Wingdings" panose="05000000000000000000" pitchFamily="2" charset="2"/>
              <a:buNone/>
            </a:pPr>
            <a:endParaRPr lang="de-DE" sz="700" dirty="0"/>
          </a:p>
          <a:p>
            <a:pPr marL="0" indent="0">
              <a:buFont typeface="Wingdings" panose="05000000000000000000" pitchFamily="2" charset="2"/>
              <a:buNone/>
            </a:pPr>
            <a:r>
              <a:rPr lang="de-DE" sz="700" b="1" dirty="0"/>
              <a:t>3. Diagramm</a:t>
            </a:r>
          </a:p>
          <a:p>
            <a:pPr marL="0" indent="0">
              <a:buFont typeface="Wingdings" panose="05000000000000000000" pitchFamily="2" charset="2"/>
              <a:buNone/>
            </a:pPr>
            <a:r>
              <a:rPr lang="de-DE" sz="700" dirty="0">
                <a:latin typeface="+mn-lt"/>
                <a:sym typeface="Wingdings" panose="05000000000000000000" pitchFamily="2" charset="2"/>
              </a:rPr>
              <a:t>Simulationsrechner im Code verbaut</a:t>
            </a:r>
          </a:p>
          <a:p>
            <a:pPr marL="0" indent="0">
              <a:buFont typeface="Wingdings" panose="05000000000000000000" pitchFamily="2" charset="2"/>
              <a:buNone/>
            </a:pPr>
            <a:r>
              <a:rPr lang="de-DE" sz="700" dirty="0">
                <a:latin typeface="+mn-lt"/>
                <a:sym typeface="Wingdings" panose="05000000000000000000" pitchFamily="2" charset="2"/>
              </a:rPr>
              <a:t>Y Achse = Anteil der gefunden Kunden (Recall)</a:t>
            </a:r>
          </a:p>
          <a:p>
            <a:pPr marL="0" indent="0">
              <a:buFont typeface="Wingdings" panose="05000000000000000000" pitchFamily="2" charset="2"/>
              <a:buNone/>
            </a:pPr>
            <a:r>
              <a:rPr lang="de-DE" sz="700" dirty="0">
                <a:latin typeface="+mn-lt"/>
                <a:sym typeface="Wingdings" panose="05000000000000000000" pitchFamily="2" charset="2"/>
              </a:rPr>
              <a:t>X- Achse = Anteil der angesprochenen Kunden </a:t>
            </a:r>
          </a:p>
          <a:p>
            <a:pPr marL="0" marR="0" lvl="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de-DE" sz="700" dirty="0">
              <a:latin typeface="+mn-lt"/>
              <a:sym typeface="Wingdings" panose="05000000000000000000" pitchFamily="2" charset="2"/>
            </a:endParaRPr>
          </a:p>
          <a:p>
            <a:pPr marL="0" marR="0" lvl="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700" b="0" dirty="0">
                <a:latin typeface="+mn-lt"/>
                <a:sym typeface="Wingdings" panose="05000000000000000000" pitchFamily="2" charset="2"/>
              </a:rPr>
              <a:t>Ich stelle </a:t>
            </a:r>
            <a:r>
              <a:rPr lang="de-DE" sz="700" b="0" dirty="0" err="1">
                <a:latin typeface="+mn-lt"/>
                <a:sym typeface="Wingdings" panose="05000000000000000000" pitchFamily="2" charset="2"/>
              </a:rPr>
              <a:t>zb</a:t>
            </a:r>
            <a:r>
              <a:rPr lang="de-DE" sz="700" b="0" dirty="0">
                <a:latin typeface="+mn-lt"/>
                <a:sym typeface="Wingdings" panose="05000000000000000000" pitchFamily="2" charset="2"/>
              </a:rPr>
              <a:t>. </a:t>
            </a:r>
            <a:r>
              <a:rPr lang="de-DE" sz="700" b="0" dirty="0"/>
              <a:t>10 </a:t>
            </a:r>
            <a:r>
              <a:rPr lang="de-DE" sz="700" dirty="0"/>
              <a:t>% angesprochene Kunden auf der x Achse ein, sind das → 41,7 % gefundene High-Response Kunden (hohe Effizienz bei minimalen Streuverlusten)</a:t>
            </a:r>
          </a:p>
          <a:p>
            <a:endParaRPr lang="de-DE" sz="700" dirty="0">
              <a:latin typeface="+mn-lt"/>
              <a:sym typeface="Wingdings" panose="05000000000000000000" pitchFamily="2" charset="2"/>
            </a:endParaRPr>
          </a:p>
          <a:p>
            <a:pPr marL="0" indent="0">
              <a:buFont typeface="Wingdings" panose="05000000000000000000" pitchFamily="2" charset="2"/>
              <a:buNone/>
            </a:pPr>
            <a:endParaRPr lang="de-DE" sz="700" dirty="0"/>
          </a:p>
          <a:p>
            <a:pPr rtl="0"/>
            <a:endParaRPr lang="de-DE" dirty="0"/>
          </a:p>
          <a:p>
            <a:r>
              <a:rPr lang="de-DE" b="1" dirty="0"/>
              <a:t>❓ „Warum ist </a:t>
            </a:r>
            <a:r>
              <a:rPr lang="de-DE" b="1" dirty="0" err="1"/>
              <a:t>Accuracy</a:t>
            </a:r>
            <a:r>
              <a:rPr lang="de-DE" b="1" dirty="0"/>
              <a:t> hier kein gutes Maß?“</a:t>
            </a:r>
          </a:p>
          <a:p>
            <a:r>
              <a:rPr lang="de-DE" i="1" dirty="0"/>
              <a:t>Weil High-Response-Kunden extrem selten sind. Ein triviales Modell hätte hohe </a:t>
            </a:r>
            <a:r>
              <a:rPr lang="de-DE" i="1" dirty="0" err="1"/>
              <a:t>Accuracy</a:t>
            </a:r>
            <a:r>
              <a:rPr lang="de-DE" i="1" dirty="0"/>
              <a:t>, aber keinen Nutzen.</a:t>
            </a:r>
            <a:endParaRPr lang="de-DE" dirty="0"/>
          </a:p>
          <a:p>
            <a:endParaRPr lang="de-DE" i="1" dirty="0"/>
          </a:p>
          <a:p>
            <a:endParaRPr lang="de-DE" dirty="0"/>
          </a:p>
          <a:p>
            <a:pPr rtl="0"/>
            <a:endParaRPr lang="de-DE" dirty="0"/>
          </a:p>
          <a:p>
            <a:pPr rtl="0"/>
            <a:endParaRPr lang="de-DE" dirty="0"/>
          </a:p>
        </p:txBody>
      </p:sp>
    </p:spTree>
    <p:extLst>
      <p:ext uri="{BB962C8B-B14F-4D97-AF65-F5344CB8AC3E}">
        <p14:creationId xmlns:p14="http://schemas.microsoft.com/office/powerpoint/2010/main" val="4135350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p:cNvSpPr>
            <a:spLocks noGrp="1"/>
          </p:cNvSpPr>
          <p:nvPr>
            <p:ph type="body" idx="1"/>
          </p:nvPr>
        </p:nvSpPr>
        <p:spPr>
          <a:xfrm>
            <a:off x="1371600" y="11734800"/>
            <a:ext cx="10972800" cy="9601200"/>
          </a:xfrm>
          <a:prstGeom prst="rect">
            <a:avLst/>
          </a:prstGeom>
        </p:spPr>
        <p:txBody>
          <a:bodyPr rtlCol="0"/>
          <a:lstStyle>
            <a:defPPr>
              <a:defRPr lang="de-DE"/>
            </a:defPPr>
          </a:lstStyle>
          <a:p>
            <a:pPr marL="228600" indent="-228600" rtl="0">
              <a:buAutoNum type="arabicPeriod"/>
            </a:pPr>
            <a:r>
              <a:rPr lang="de-DE" dirty="0"/>
              <a:t>Diagramm</a:t>
            </a:r>
          </a:p>
          <a:p>
            <a:pPr marL="228600" indent="-228600" rtl="0">
              <a:buAutoNum type="arabicPeriod"/>
            </a:pPr>
            <a:endParaRPr lang="de-DE" dirty="0"/>
          </a:p>
          <a:p>
            <a:pPr marL="0" indent="0" rtl="0">
              <a:buNone/>
            </a:pPr>
            <a:r>
              <a:rPr lang="de-DE" dirty="0"/>
              <a:t>Ich habe das Feature </a:t>
            </a:r>
            <a:r>
              <a:rPr lang="de-DE" dirty="0" err="1"/>
              <a:t>Importance</a:t>
            </a:r>
            <a:r>
              <a:rPr lang="de-DE" dirty="0"/>
              <a:t> mit dem Random Forest genutzt, weil ich zeigen wollte, welche Variablen bei korrelierenden Merkmalen die High-Response-Kunden antreibt  – Also sprich die Trennungsrelevanz (ungeeignet wäre hier die Logistische Regression, da bei starker </a:t>
            </a:r>
            <a:r>
              <a:rPr lang="de-DE" dirty="0" err="1"/>
              <a:t>Korrellation</a:t>
            </a:r>
            <a:r>
              <a:rPr lang="de-DE" dirty="0"/>
              <a:t> schwer interpretierbar</a:t>
            </a:r>
          </a:p>
          <a:p>
            <a:pPr marL="0" indent="0" rtl="0">
              <a:buNone/>
            </a:pPr>
            <a:endParaRPr lang="de-DE" dirty="0"/>
          </a:p>
          <a:p>
            <a:pPr rtl="0"/>
            <a:r>
              <a:rPr lang="de-DE" dirty="0"/>
              <a:t>Einkommen = hoher Stellenwert, aber nur bedingt eines der wichtigsten Treiber für High-Response-Kunden (eher hohe Datenqualität, gleichbleibende Skalierung)</a:t>
            </a:r>
          </a:p>
          <a:p>
            <a:pPr rtl="0"/>
            <a:r>
              <a:rPr lang="de-DE" dirty="0"/>
              <a:t>Wichtig sind eher Kauf- und Nutzungsaktivitäten als die sozi-demografischen Aspekte (Alter, Kundedauer ec.)</a:t>
            </a:r>
          </a:p>
          <a:p>
            <a:pPr rtl="0"/>
            <a:r>
              <a:rPr lang="de-DE" dirty="0"/>
              <a:t>hinzu</a:t>
            </a:r>
          </a:p>
          <a:p>
            <a:pPr rtl="0"/>
            <a:endParaRPr lang="de-DE" dirty="0"/>
          </a:p>
          <a:p>
            <a:pPr rtl="0"/>
            <a:r>
              <a:rPr lang="de-DE" dirty="0"/>
              <a:t>++++</a:t>
            </a:r>
          </a:p>
          <a:p>
            <a:pPr rtl="0"/>
            <a:endParaRPr lang="de-DE" dirty="0"/>
          </a:p>
          <a:p>
            <a:r>
              <a:rPr lang="de-DE" dirty="0"/>
              <a:t>2. Diagramm</a:t>
            </a:r>
          </a:p>
          <a:p>
            <a:br>
              <a:rPr lang="de-DE" dirty="0"/>
            </a:br>
            <a:endParaRPr lang="de-DE" dirty="0"/>
          </a:p>
          <a:p>
            <a:r>
              <a:rPr lang="de-DE" b="1" dirty="0"/>
              <a:t>Mehrfach-Reagierer (Rabattorientiert) = </a:t>
            </a:r>
            <a:r>
              <a:rPr lang="de-DE" b="0" dirty="0"/>
              <a:t>stärkster Treiber sind Einkommen, Kundendauer, Alter </a:t>
            </a:r>
          </a:p>
          <a:p>
            <a:r>
              <a:rPr lang="de-DE" b="1" dirty="0"/>
              <a:t>Gelegenheits-Reagierer &amp; Spätis (premiumorientiert) = </a:t>
            </a:r>
            <a:r>
              <a:rPr lang="de-DE" b="0" dirty="0"/>
              <a:t>stärkster Treiber ist Einkommen, Katalog, Rabattkäufe</a:t>
            </a:r>
          </a:p>
          <a:p>
            <a:r>
              <a:rPr lang="de-DE" b="1" dirty="0"/>
              <a:t>Früh-Reagierer (premium/loyalitätsorientiert) = </a:t>
            </a:r>
            <a:r>
              <a:rPr lang="de-DE" b="0" dirty="0"/>
              <a:t>stärkster Treiber ist Einkommen, Ladenkäufe, Kundendauer</a:t>
            </a:r>
          </a:p>
          <a:p>
            <a:br>
              <a:rPr lang="de-DE" dirty="0"/>
            </a:br>
            <a:endParaRPr lang="de-DE" dirty="0"/>
          </a:p>
          <a:p>
            <a:pPr rtl="0"/>
            <a:endParaRPr lang="de-DE" dirty="0"/>
          </a:p>
          <a:p>
            <a:pPr rtl="0"/>
            <a:endParaRPr lang="de-DE" dirty="0"/>
          </a:p>
          <a:p>
            <a:r>
              <a:rPr lang="de-DE" b="1" dirty="0"/>
              <a:t>Warum nicht Gradient Boosting (z. B. </a:t>
            </a:r>
            <a:r>
              <a:rPr lang="de-DE" b="1" dirty="0" err="1"/>
              <a:t>XGBoost</a:t>
            </a:r>
            <a:r>
              <a:rPr lang="de-DE" b="1" dirty="0"/>
              <a:t> / </a:t>
            </a:r>
            <a:r>
              <a:rPr lang="de-DE" b="1" dirty="0" err="1"/>
              <a:t>LightGBM</a:t>
            </a:r>
            <a:r>
              <a:rPr lang="de-DE" b="1" dirty="0"/>
              <a:t>) sondern Feature </a:t>
            </a:r>
            <a:r>
              <a:rPr lang="de-DE" b="1" dirty="0" err="1"/>
              <a:t>Importance</a:t>
            </a:r>
            <a:r>
              <a:rPr lang="de-DE" b="1" dirty="0"/>
              <a:t>?</a:t>
            </a:r>
          </a:p>
          <a:p>
            <a:r>
              <a:rPr lang="de-DE" i="1" dirty="0"/>
              <a:t>Wäre leistungsfähig, wurde aber zugunsten von Interpretierbarkeit bewusst nicht eingesetzt.</a:t>
            </a:r>
            <a:endParaRPr lang="de-DE" dirty="0"/>
          </a:p>
          <a:p>
            <a:pPr rtl="0"/>
            <a:endParaRPr lang="de-DE" dirty="0"/>
          </a:p>
        </p:txBody>
      </p:sp>
    </p:spTree>
    <p:extLst>
      <p:ext uri="{BB962C8B-B14F-4D97-AF65-F5344CB8AC3E}">
        <p14:creationId xmlns:p14="http://schemas.microsoft.com/office/powerpoint/2010/main" val="1019397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E0840-4A57-4BAA-34D5-5ACC61DAEB1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02A15B9-F8B7-F2DA-6732-C674AE11377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228C18A9-F005-735D-EDAD-D63C7249C992}"/>
              </a:ext>
            </a:extLst>
          </p:cNvPr>
          <p:cNvSpPr>
            <a:spLocks noGrp="1"/>
          </p:cNvSpPr>
          <p:nvPr>
            <p:ph type="body" idx="1"/>
          </p:nvPr>
        </p:nvSpPr>
        <p:spPr>
          <a:xfrm>
            <a:off x="1371600" y="11734800"/>
            <a:ext cx="10972800" cy="9601200"/>
          </a:xfrm>
          <a:prstGeom prst="rect">
            <a:avLst/>
          </a:prstGeom>
        </p:spPr>
        <p:txBody>
          <a:bodyPr rtlCol="0"/>
          <a:lstStyle>
            <a:defPPr>
              <a:defRPr lang="de-DE"/>
            </a:defPPr>
          </a:lstStyle>
          <a:p>
            <a:endParaRPr lang="de-DE" dirty="0"/>
          </a:p>
          <a:p>
            <a:endParaRPr lang="de-DE" dirty="0"/>
          </a:p>
          <a:p>
            <a:r>
              <a:rPr lang="de-DE" dirty="0"/>
              <a:t>Webshop ausbauen – besseres Tracking -  GA drauf legen auch wenn der Trend aktuell eher abwärts ging (52% = 2023 / 21% = 2024) </a:t>
            </a:r>
          </a:p>
        </p:txBody>
      </p:sp>
    </p:spTree>
    <p:extLst>
      <p:ext uri="{BB962C8B-B14F-4D97-AF65-F5344CB8AC3E}">
        <p14:creationId xmlns:p14="http://schemas.microsoft.com/office/powerpoint/2010/main" val="2945552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29467-68C7-1650-F39E-9268733BF09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3F966FB-83E1-0B83-12A7-52CD73BF78D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AB35BC42-A408-980D-E05A-C322F2F63FD8}"/>
              </a:ext>
            </a:extLst>
          </p:cNvPr>
          <p:cNvSpPr>
            <a:spLocks noGrp="1"/>
          </p:cNvSpPr>
          <p:nvPr>
            <p:ph type="body" idx="1"/>
          </p:nvPr>
        </p:nvSpPr>
        <p:spPr>
          <a:xfrm>
            <a:off x="1371600" y="11734800"/>
            <a:ext cx="10972800" cy="9601200"/>
          </a:xfrm>
          <a:prstGeom prst="rect">
            <a:avLst/>
          </a:prstGeom>
        </p:spPr>
        <p:txBody>
          <a:bodyPr rtlCol="0"/>
          <a:lstStyle>
            <a:defPPr>
              <a:defRPr lang="de-DE"/>
            </a:defPPr>
          </a:lstStyle>
          <a:p>
            <a:endParaRPr lang="de-DE" dirty="0"/>
          </a:p>
        </p:txBody>
      </p:sp>
    </p:spTree>
    <p:extLst>
      <p:ext uri="{BB962C8B-B14F-4D97-AF65-F5344CB8AC3E}">
        <p14:creationId xmlns:p14="http://schemas.microsoft.com/office/powerpoint/2010/main" val="1078845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izenplatzhalter 2"/>
          <p:cNvSpPr>
            <a:spLocks noGrp="1"/>
          </p:cNvSpPr>
          <p:nvPr>
            <p:ph type="body" idx="1"/>
          </p:nvPr>
        </p:nvSpPr>
        <p:spPr>
          <a:xfrm>
            <a:off x="1371600" y="11734800"/>
            <a:ext cx="10972800" cy="9601200"/>
          </a:xfrm>
          <a:prstGeom prst="rect">
            <a:avLst/>
          </a:prstGeom>
        </p:spPr>
        <p:txBody>
          <a:bodyPr rtlCol="0"/>
          <a:lstStyle>
            <a:defPPr>
              <a:defRPr lang="de-DE"/>
            </a:defPPr>
          </a:lstStyle>
          <a:p>
            <a:pPr rtl="0"/>
            <a:endParaRPr lang="de-DE" dirty="0"/>
          </a:p>
          <a:p>
            <a:pPr rtl="0"/>
            <a:endParaRPr lang="de-DE" dirty="0"/>
          </a:p>
          <a:p>
            <a:pPr rtl="0"/>
            <a:r>
              <a:rPr lang="de-DE" dirty="0"/>
              <a:t>Jetzt dürft ihr mich gerne zerfetzen :=)</a:t>
            </a:r>
          </a:p>
        </p:txBody>
      </p:sp>
    </p:spTree>
    <p:extLst>
      <p:ext uri="{BB962C8B-B14F-4D97-AF65-F5344CB8AC3E}">
        <p14:creationId xmlns:p14="http://schemas.microsoft.com/office/powerpoint/2010/main" val="87667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accent1"/>
        </a:solidFill>
        <a:effectLst/>
      </p:bgPr>
    </p:bg>
    <p:spTree>
      <p:nvGrpSpPr>
        <p:cNvPr id="1" name=""/>
        <p:cNvGrpSpPr/>
        <p:nvPr/>
      </p:nvGrpSpPr>
      <p:grpSpPr>
        <a:xfrm>
          <a:off x="0" y="0"/>
          <a:ext cx="0" cy="0"/>
          <a:chOff x="0" y="0"/>
          <a:chExt cx="0" cy="0"/>
        </a:xfrm>
      </p:grpSpPr>
      <p:sp>
        <p:nvSpPr>
          <p:cNvPr id="15" name="Abbildung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defPPr>
              <a:defRPr lang="de-DE"/>
            </a:defPPr>
          </a:lstStyle>
          <a:p>
            <a:pPr rtl="0"/>
            <a:endParaRPr lang="de-DE" dirty="0"/>
          </a:p>
        </p:txBody>
      </p:sp>
      <p:sp>
        <p:nvSpPr>
          <p:cNvPr id="20" name="Freihandform: Form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lvl="0" rtl="0"/>
            <a:endParaRPr lang="de-DE" dirty="0">
              <a:solidFill>
                <a:schemeClr val="tx1"/>
              </a:solidFill>
            </a:endParaRPr>
          </a:p>
        </p:txBody>
      </p:sp>
      <p:sp>
        <p:nvSpPr>
          <p:cNvPr id="18" name="Freihandform: Form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lvl="0" rtl="0"/>
            <a:endParaRPr lang="de-DE" dirty="0">
              <a:solidFill>
                <a:schemeClr val="tx1"/>
              </a:solidFill>
            </a:endParaRPr>
          </a:p>
        </p:txBody>
      </p:sp>
      <p:sp>
        <p:nvSpPr>
          <p:cNvPr id="2" name="Titel 1"/>
          <p:cNvSpPr>
            <a:spLocks noGrp="1"/>
          </p:cNvSpPr>
          <p:nvPr>
            <p:ph type="ctrTitle" hasCustomPrompt="1"/>
          </p:nvPr>
        </p:nvSpPr>
        <p:spPr>
          <a:xfrm>
            <a:off x="2899790" y="810227"/>
            <a:ext cx="6392421" cy="3831221"/>
          </a:xfrm>
        </p:spPr>
        <p:txBody>
          <a:bodyPr tIns="0" bIns="0" rtlCol="0" anchor="ctr" anchorCtr="0">
            <a:noAutofit/>
          </a:bodyPr>
          <a:lstStyle>
            <a:lvl1pPr algn="ctr">
              <a:lnSpc>
                <a:spcPct val="100000"/>
              </a:lnSpc>
              <a:defRPr lang="de-DE" sz="3600"/>
            </a:lvl1pPr>
          </a:lstStyle>
          <a:p>
            <a:pPr rtl="0"/>
            <a:r>
              <a:rPr lang="de-DE"/>
              <a:t>Titel durch Klicken hinzufügen</a:t>
            </a:r>
          </a:p>
        </p:txBody>
      </p:sp>
    </p:spTree>
    <p:extLst>
      <p:ext uri="{BB962C8B-B14F-4D97-AF65-F5344CB8AC3E}">
        <p14:creationId xmlns:p14="http://schemas.microsoft.com/office/powerpoint/2010/main" val="2631799807"/>
      </p:ext>
    </p:extLst>
  </p:cSld>
  <p:clrMapOvr>
    <a:masterClrMapping/>
  </p:clrMapOvr>
  <p:transition spd="slow">
    <p:wip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pieren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ihand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rtl="0"/>
              <a:endParaRPr lang="de-DE" dirty="0"/>
            </a:p>
          </p:txBody>
        </p:sp>
        <p:sp>
          <p:nvSpPr>
            <p:cNvPr id="8" name="Freihand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rtl="0"/>
              <a:endParaRPr lang="de-DE" dirty="0"/>
            </a:p>
          </p:txBody>
        </p:sp>
      </p:grpSp>
      <p:grpSp>
        <p:nvGrpSpPr>
          <p:cNvPr id="9" name="Gruppieren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ihand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rtl="0"/>
              <a:endParaRPr lang="de-DE" dirty="0"/>
            </a:p>
          </p:txBody>
        </p:sp>
        <p:sp>
          <p:nvSpPr>
            <p:cNvPr id="11" name="Freihand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rtl="0"/>
              <a:endParaRPr lang="de-DE" dirty="0"/>
            </a:p>
          </p:txBody>
        </p:sp>
      </p:grpSp>
      <p:sp>
        <p:nvSpPr>
          <p:cNvPr id="14" name="Bild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defPPr>
              <a:defRPr lang="de-DE"/>
            </a:defPPr>
          </a:lstStyle>
          <a:p>
            <a:pPr rtl="0"/>
            <a:endParaRPr lang="de-DE" dirty="0"/>
          </a:p>
        </p:txBody>
      </p:sp>
      <p:sp>
        <p:nvSpPr>
          <p:cNvPr id="2" name="Titel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rtlCol="0">
            <a:noAutofit/>
          </a:bodyPr>
          <a:lstStyle>
            <a:lvl1pPr algn="l">
              <a:lnSpc>
                <a:spcPct val="100000"/>
              </a:lnSpc>
              <a:defRPr lang="de-DE" sz="3600"/>
            </a:lvl1pPr>
          </a:lstStyle>
          <a:p>
            <a:pPr rtl="0"/>
            <a:r>
              <a:rPr lang="de-DE"/>
              <a:t>Titel durch Klicken hinzufügen</a:t>
            </a:r>
          </a:p>
        </p:txBody>
      </p:sp>
      <p:sp>
        <p:nvSpPr>
          <p:cNvPr id="13" name="Inhaltsplatzhalt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rtlCol="0">
            <a:normAutofit/>
          </a:bodyPr>
          <a:lstStyle>
            <a:lvl1pPr marL="0" indent="0">
              <a:lnSpc>
                <a:spcPct val="150000"/>
              </a:lnSpc>
              <a:spcBef>
                <a:spcPts val="0"/>
              </a:spcBef>
              <a:buNone/>
              <a:defRPr lang="de-DE" sz="2400"/>
            </a:lvl1pPr>
            <a:lvl2pPr marL="347472">
              <a:lnSpc>
                <a:spcPct val="150000"/>
              </a:lnSpc>
              <a:spcBef>
                <a:spcPts val="0"/>
              </a:spcBef>
              <a:defRPr lang="de-DE" sz="2000"/>
            </a:lvl2pPr>
            <a:lvl3pPr marL="685800">
              <a:lnSpc>
                <a:spcPct val="150000"/>
              </a:lnSpc>
              <a:spcBef>
                <a:spcPts val="0"/>
              </a:spcBef>
              <a:defRPr lang="de-DE" sz="1800"/>
            </a:lvl3pPr>
          </a:lstStyle>
          <a:p>
            <a:pPr lvl="0" rtl="0"/>
            <a:r>
              <a:rPr lang="de-DE"/>
              <a:t>Klicken Sie, um Text hinzuzufügen.</a:t>
            </a:r>
          </a:p>
          <a:p>
            <a:pPr lvl="1" rtl="0"/>
            <a:r>
              <a:rPr lang="de-DE"/>
              <a:t>Zweite Ebene</a:t>
            </a:r>
          </a:p>
          <a:p>
            <a:pPr lvl="2" rtl="0"/>
            <a:r>
              <a:rPr lang="de-DE"/>
              <a:t>Dritte Ebene</a:t>
            </a:r>
          </a:p>
        </p:txBody>
      </p:sp>
      <p:sp>
        <p:nvSpPr>
          <p:cNvPr id="3" name="Foliennummernplatzhalt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rtlCol="0"/>
          <a:lstStyle>
            <a:lvl1pPr>
              <a:defRPr lang="de-DE" sz="1600">
                <a:latin typeface="+mj-lt"/>
              </a:defRPr>
            </a:lvl1pPr>
          </a:lstStyle>
          <a:p>
            <a:pPr rtl="0"/>
            <a:fld id="{48F63A3B-78C7-47BE-AE5E-E10140E04643}" type="slidenum">
              <a:rPr lang="de-DE" smtClean="0"/>
              <a:pPr/>
              <a:t>‹Nr.›</a:t>
            </a:fld>
            <a:endParaRPr lang="de-DE" dirty="0"/>
          </a:p>
        </p:txBody>
      </p:sp>
    </p:spTree>
    <p:extLst>
      <p:ext uri="{BB962C8B-B14F-4D97-AF65-F5344CB8AC3E}">
        <p14:creationId xmlns:p14="http://schemas.microsoft.com/office/powerpoint/2010/main" val="2333964501"/>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inführung 2">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sz="450" dirty="0"/>
          </a:p>
        </p:txBody>
      </p:sp>
      <p:sp>
        <p:nvSpPr>
          <p:cNvPr id="6" name="Rechteck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sz="1600" dirty="0"/>
          </a:p>
        </p:txBody>
      </p:sp>
      <p:grpSp>
        <p:nvGrpSpPr>
          <p:cNvPr id="18" name="Gruppieren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ihandform: Form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p>
          </p:txBody>
        </p:sp>
        <p:sp>
          <p:nvSpPr>
            <p:cNvPr id="15" name="Freihandform: Form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solidFill>
                  <a:schemeClr val="tx1"/>
                </a:solidFill>
              </a:endParaRPr>
            </a:p>
          </p:txBody>
        </p:sp>
        <p:sp>
          <p:nvSpPr>
            <p:cNvPr id="16" name="Bild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de-DE"/>
              </a:defPPr>
            </a:lstStyle>
            <a:p>
              <a:pPr rtl="0"/>
              <a:endParaRPr lang="de-DE" dirty="0"/>
            </a:p>
          </p:txBody>
        </p:sp>
      </p:grpSp>
      <p:sp>
        <p:nvSpPr>
          <p:cNvPr id="2" name="Titel 1"/>
          <p:cNvSpPr>
            <a:spLocks noGrp="1"/>
          </p:cNvSpPr>
          <p:nvPr userDrawn="1">
            <p:ph type="title" hasCustomPrompt="1"/>
          </p:nvPr>
        </p:nvSpPr>
        <p:spPr>
          <a:xfrm>
            <a:off x="5702441" y="1061623"/>
            <a:ext cx="5723586" cy="4739104"/>
          </a:xfrm>
        </p:spPr>
        <p:txBody>
          <a:bodyPr tIns="0" bIns="0" rtlCol="0" anchor="ctr">
            <a:noAutofit/>
          </a:bodyPr>
          <a:lstStyle>
            <a:lvl1pPr algn="l">
              <a:lnSpc>
                <a:spcPct val="100000"/>
              </a:lnSpc>
              <a:defRPr lang="de-DE" sz="3600" b="1"/>
            </a:lvl1pPr>
          </a:lstStyle>
          <a:p>
            <a:pPr rtl="0"/>
            <a:r>
              <a:rPr lang="de-DE"/>
              <a:t>Titel durch Klicken hinzufügen</a:t>
            </a:r>
          </a:p>
        </p:txBody>
      </p:sp>
      <p:sp>
        <p:nvSpPr>
          <p:cNvPr id="8" name="Bildplatzhalt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rtlCol="0">
            <a:normAutofit/>
          </a:bodyPr>
          <a:lstStyle>
            <a:lvl1pPr marL="0" indent="0">
              <a:buNone/>
              <a:defRPr lang="de-DE" sz="1800"/>
            </a:lvl1pPr>
          </a:lstStyle>
          <a:p>
            <a:pPr lvl="0" rtl="0"/>
            <a:r>
              <a:rPr lang="de-DE"/>
              <a:t>Klicken, um Bild hinzuzufügen</a:t>
            </a:r>
          </a:p>
        </p:txBody>
      </p:sp>
    </p:spTree>
    <p:extLst>
      <p:ext uri="{BB962C8B-B14F-4D97-AF65-F5344CB8AC3E}">
        <p14:creationId xmlns:p14="http://schemas.microsoft.com/office/powerpoint/2010/main" val="433189165"/>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bschnittsüberschrift">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sz="450" dirty="0"/>
          </a:p>
        </p:txBody>
      </p:sp>
      <p:sp>
        <p:nvSpPr>
          <p:cNvPr id="22" name="Rechteck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sz="1600" dirty="0"/>
          </a:p>
        </p:txBody>
      </p:sp>
      <p:sp>
        <p:nvSpPr>
          <p:cNvPr id="36" name="Freihand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solidFill>
                <a:schemeClr val="tx1"/>
              </a:solidFill>
            </a:endParaRPr>
          </a:p>
        </p:txBody>
      </p:sp>
      <p:sp>
        <p:nvSpPr>
          <p:cNvPr id="33" name="Freihand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lvl="0" algn="ctr" rtl="0"/>
            <a:endParaRPr lang="de-DE" dirty="0"/>
          </a:p>
        </p:txBody>
      </p:sp>
      <p:sp>
        <p:nvSpPr>
          <p:cNvPr id="4" name="Titel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rtlCol="0">
            <a:noAutofit/>
          </a:bodyPr>
          <a:lstStyle>
            <a:lvl1pPr algn="l">
              <a:lnSpc>
                <a:spcPct val="100000"/>
              </a:lnSpc>
              <a:defRPr lang="de-DE" sz="3600"/>
            </a:lvl1pPr>
          </a:lstStyle>
          <a:p>
            <a:pPr rtl="0"/>
            <a:r>
              <a:rPr lang="de-DE"/>
              <a:t>Klicken Sie, um Text hinzuzufügen.</a:t>
            </a:r>
          </a:p>
        </p:txBody>
      </p:sp>
      <p:sp>
        <p:nvSpPr>
          <p:cNvPr id="5" name="Inhaltsplatzhalt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rtlCol="0">
            <a:normAutofit/>
          </a:bodyPr>
          <a:lstStyle>
            <a:lvl1pPr marL="0" indent="0">
              <a:lnSpc>
                <a:spcPct val="100000"/>
              </a:lnSpc>
              <a:spcBef>
                <a:spcPts val="0"/>
              </a:spcBef>
              <a:buNone/>
              <a:defRPr lang="de-DE" sz="2400"/>
            </a:lvl1pPr>
            <a:lvl2pPr marL="347472">
              <a:lnSpc>
                <a:spcPct val="100000"/>
              </a:lnSpc>
              <a:spcBef>
                <a:spcPts val="0"/>
              </a:spcBef>
              <a:defRPr lang="de-DE" sz="2400"/>
            </a:lvl2pPr>
            <a:lvl3pPr marL="685800">
              <a:lnSpc>
                <a:spcPct val="100000"/>
              </a:lnSpc>
              <a:spcBef>
                <a:spcPts val="0"/>
              </a:spcBef>
              <a:defRPr lang="de-DE" sz="2400"/>
            </a:lvl3pPr>
          </a:lstStyle>
          <a:p>
            <a:pPr lvl="0" rtl="0"/>
            <a:r>
              <a:rPr lang="de-DE"/>
              <a:t>Klicken Sie, um Text hinzuzufügen.</a:t>
            </a:r>
          </a:p>
          <a:p>
            <a:pPr lvl="1" rtl="0"/>
            <a:r>
              <a:rPr lang="de-DE"/>
              <a:t>Zweite Ebene</a:t>
            </a:r>
          </a:p>
          <a:p>
            <a:pPr lvl="2" rtl="0"/>
            <a:r>
              <a:rPr lang="de-DE"/>
              <a:t>Dritte Ebene</a:t>
            </a:r>
          </a:p>
        </p:txBody>
      </p:sp>
      <p:sp>
        <p:nvSpPr>
          <p:cNvPr id="52" name="Bildplatzhalt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rtlCol="0">
            <a:normAutofit/>
          </a:bodyPr>
          <a:lstStyle>
            <a:lvl1pPr marL="0" indent="0">
              <a:buNone/>
              <a:defRPr lang="de-DE" sz="1800"/>
            </a:lvl1pPr>
          </a:lstStyle>
          <a:p>
            <a:pPr lvl="0" rtl="0"/>
            <a:r>
              <a:rPr lang="de-DE"/>
              <a:t>Klicken, um Bild hinzuzufügen</a:t>
            </a:r>
          </a:p>
        </p:txBody>
      </p:sp>
    </p:spTree>
    <p:extLst>
      <p:ext uri="{BB962C8B-B14F-4D97-AF65-F5344CB8AC3E}">
        <p14:creationId xmlns:p14="http://schemas.microsoft.com/office/powerpoint/2010/main" val="1681789449"/>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32" name="Bild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defPPr>
              <a:defRPr lang="de-DE"/>
            </a:defPPr>
          </a:lstStyle>
          <a:p>
            <a:pPr rtl="0"/>
            <a:endParaRPr lang="de-DE" dirty="0"/>
          </a:p>
        </p:txBody>
      </p:sp>
      <p:sp>
        <p:nvSpPr>
          <p:cNvPr id="53" name="Freihandform: Form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defPPr>
              <a:defRPr lang="de-DE"/>
            </a:defPPr>
          </a:lstStyle>
          <a:p>
            <a:pPr rtl="0"/>
            <a:endParaRPr lang="de-DE" dirty="0"/>
          </a:p>
        </p:txBody>
      </p:sp>
      <p:sp>
        <p:nvSpPr>
          <p:cNvPr id="29" name="Freihand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rtl="0"/>
            <a:endParaRPr lang="de-DE" dirty="0"/>
          </a:p>
        </p:txBody>
      </p:sp>
      <p:sp>
        <p:nvSpPr>
          <p:cNvPr id="31" name="Freihand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rtl="0"/>
            <a:endParaRPr lang="de-DE" dirty="0"/>
          </a:p>
        </p:txBody>
      </p:sp>
      <p:sp>
        <p:nvSpPr>
          <p:cNvPr id="33" name="Bild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defPPr>
              <a:defRPr lang="de-DE"/>
            </a:defPPr>
          </a:lstStyle>
          <a:p>
            <a:pPr rtl="0"/>
            <a:endParaRPr lang="de-DE" dirty="0"/>
          </a:p>
        </p:txBody>
      </p:sp>
      <p:sp>
        <p:nvSpPr>
          <p:cNvPr id="2" name="Titel 1"/>
          <p:cNvSpPr>
            <a:spLocks noGrp="1"/>
          </p:cNvSpPr>
          <p:nvPr>
            <p:ph type="title" hasCustomPrompt="1"/>
          </p:nvPr>
        </p:nvSpPr>
        <p:spPr>
          <a:xfrm>
            <a:off x="3460565" y="1057274"/>
            <a:ext cx="7965461" cy="994164"/>
          </a:xfrm>
        </p:spPr>
        <p:txBody>
          <a:bodyPr lIns="91440" tIns="0" rIns="91440" bIns="0" rtlCol="0" anchor="b" anchorCtr="0">
            <a:noAutofit/>
          </a:bodyPr>
          <a:lstStyle>
            <a:lvl1pPr algn="l">
              <a:lnSpc>
                <a:spcPct val="100000"/>
              </a:lnSpc>
              <a:defRPr lang="de-DE" sz="3600" b="1">
                <a:latin typeface="+mj-lt"/>
                <a:cs typeface="Arial" panose="020B0604020202020204" pitchFamily="34" charset="0"/>
              </a:defRPr>
            </a:lvl1pPr>
          </a:lstStyle>
          <a:p>
            <a:pPr rtl="0"/>
            <a:r>
              <a:rPr lang="de-DE"/>
              <a:t>Titel durch Klicken hinzufügen</a:t>
            </a:r>
          </a:p>
        </p:txBody>
      </p:sp>
      <p:sp>
        <p:nvSpPr>
          <p:cNvPr id="13" name="Inhaltsplatzhalt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rtlCol="0">
            <a:normAutofit/>
          </a:bodyPr>
          <a:lstStyle>
            <a:lvl1pPr>
              <a:spcBef>
                <a:spcPts val="1000"/>
              </a:spcBef>
              <a:defRPr lang="de-DE" sz="1800"/>
            </a:lvl1pPr>
            <a:lvl2pPr>
              <a:spcBef>
                <a:spcPts val="1000"/>
              </a:spcBef>
              <a:defRPr lang="de-DE" sz="1800"/>
            </a:lvl2pPr>
            <a:lvl3pPr>
              <a:spcBef>
                <a:spcPts val="1000"/>
              </a:spcBef>
              <a:defRPr lang="de-DE" sz="1800"/>
            </a:lvl3pPr>
            <a:lvl4pPr>
              <a:spcBef>
                <a:spcPts val="1000"/>
              </a:spcBef>
              <a:defRPr lang="de-DE" sz="1800"/>
            </a:lvl4pPr>
            <a:lvl5pPr>
              <a:spcBef>
                <a:spcPts val="1000"/>
              </a:spcBef>
              <a:defRPr lang="de-DE" sz="1800"/>
            </a:lvl5pPr>
          </a:lstStyle>
          <a:p>
            <a:pPr lvl="0" rtl="0"/>
            <a:r>
              <a:rPr lang="de-DE"/>
              <a:t>Klicken Sie, um Text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8" name="Foliennummernplatzhalt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rtlCol="0"/>
          <a:lstStyle>
            <a:lvl1pPr>
              <a:defRPr lang="de-DE" sz="1600">
                <a:latin typeface="+mj-lt"/>
              </a:defRPr>
            </a:lvl1pPr>
          </a:lstStyle>
          <a:p>
            <a:pPr rtl="0"/>
            <a:fld id="{48F63A3B-78C7-47BE-AE5E-E10140E04643}" type="slidenum">
              <a:rPr lang="de-DE" smtClean="0"/>
              <a:pPr/>
              <a:t>‹Nr.›</a:t>
            </a:fld>
            <a:endParaRPr lang="de-DE" dirty="0"/>
          </a:p>
        </p:txBody>
      </p:sp>
    </p:spTree>
    <p:extLst>
      <p:ext uri="{BB962C8B-B14F-4D97-AF65-F5344CB8AC3E}">
        <p14:creationId xmlns:p14="http://schemas.microsoft.com/office/powerpoint/2010/main" val="552850918"/>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Vergleich 1">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rtlCol="0">
            <a:noAutofit/>
          </a:bodyPr>
          <a:lstStyle>
            <a:lvl1pPr algn="l">
              <a:lnSpc>
                <a:spcPct val="100000"/>
              </a:lnSpc>
              <a:defRPr lang="de-DE" sz="3600"/>
            </a:lvl1pPr>
          </a:lstStyle>
          <a:p>
            <a:pPr rtl="0"/>
            <a:r>
              <a:rPr lang="de-DE"/>
              <a:t>Titel durch Klicken hinzufügen</a:t>
            </a:r>
          </a:p>
        </p:txBody>
      </p:sp>
      <p:sp>
        <p:nvSpPr>
          <p:cNvPr id="11" name="Abbildung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defPPr>
              <a:defRPr lang="de-DE"/>
            </a:defPPr>
          </a:lstStyle>
          <a:p>
            <a:pPr rtl="0"/>
            <a:endParaRPr lang="de-DE" dirty="0"/>
          </a:p>
        </p:txBody>
      </p:sp>
      <p:pic>
        <p:nvPicPr>
          <p:cNvPr id="13" name="Bild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ihandform: Form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defPPr>
              <a:defRPr lang="de-DE"/>
            </a:defPPr>
          </a:lstStyle>
          <a:p>
            <a:pPr rtl="0"/>
            <a:endParaRPr lang="de-DE" dirty="0"/>
          </a:p>
        </p:txBody>
      </p:sp>
      <p:sp>
        <p:nvSpPr>
          <p:cNvPr id="17" name="Bild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defPPr>
              <a:defRPr lang="de-DE"/>
            </a:defPPr>
          </a:lstStyle>
          <a:p>
            <a:pPr rtl="0"/>
            <a:endParaRPr lang="de-DE" dirty="0"/>
          </a:p>
        </p:txBody>
      </p:sp>
      <p:pic>
        <p:nvPicPr>
          <p:cNvPr id="19" name="Bild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Foliennummernplatzhalt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rtlCol="0"/>
          <a:lstStyle>
            <a:lvl1pPr>
              <a:defRPr lang="de-DE" sz="1600">
                <a:latin typeface="+mj-lt"/>
              </a:defRPr>
            </a:lvl1pPr>
          </a:lstStyle>
          <a:p>
            <a:pPr rtl="0"/>
            <a:fld id="{48F63A3B-78C7-47BE-AE5E-E10140E04643}" type="slidenum">
              <a:rPr lang="de-DE" smtClean="0"/>
              <a:pPr/>
              <a:t>‹Nr.›</a:t>
            </a:fld>
            <a:endParaRPr lang="de-DE" dirty="0"/>
          </a:p>
        </p:txBody>
      </p:sp>
      <p:sp>
        <p:nvSpPr>
          <p:cNvPr id="2" name="Inhaltsplatzhalt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rtlCol="0">
            <a:normAutofit/>
          </a:bodyPr>
          <a:lstStyle>
            <a:lvl1pPr marL="0" indent="0">
              <a:lnSpc>
                <a:spcPct val="100000"/>
              </a:lnSpc>
              <a:spcBef>
                <a:spcPts val="0"/>
              </a:spcBef>
              <a:buNone/>
              <a:defRPr lang="de-DE" sz="2400"/>
            </a:lvl1pPr>
            <a:lvl2pPr marL="347472">
              <a:lnSpc>
                <a:spcPct val="100000"/>
              </a:lnSpc>
              <a:spcBef>
                <a:spcPts val="0"/>
              </a:spcBef>
              <a:defRPr lang="de-DE" sz="2400"/>
            </a:lvl2pPr>
            <a:lvl3pPr marL="685800">
              <a:lnSpc>
                <a:spcPct val="100000"/>
              </a:lnSpc>
              <a:spcBef>
                <a:spcPts val="0"/>
              </a:spcBef>
              <a:defRPr lang="de-DE" sz="2400"/>
            </a:lvl3pPr>
          </a:lstStyle>
          <a:p>
            <a:pPr lvl="0" rtl="0"/>
            <a:r>
              <a:rPr lang="de-DE"/>
              <a:t>Klicken Sie, um Text hinzuzufügen.</a:t>
            </a:r>
          </a:p>
          <a:p>
            <a:pPr lvl="1" rtl="0"/>
            <a:r>
              <a:rPr lang="de-DE"/>
              <a:t>Zweite Ebene</a:t>
            </a:r>
          </a:p>
          <a:p>
            <a:pPr lvl="2" rtl="0"/>
            <a:r>
              <a:rPr lang="de-DE"/>
              <a:t>Dritte Ebene</a:t>
            </a:r>
          </a:p>
        </p:txBody>
      </p:sp>
    </p:spTree>
    <p:extLst>
      <p:ext uri="{BB962C8B-B14F-4D97-AF65-F5344CB8AC3E}">
        <p14:creationId xmlns:p14="http://schemas.microsoft.com/office/powerpoint/2010/main" val="3116296531"/>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ergleich 4">
    <p:spTree>
      <p:nvGrpSpPr>
        <p:cNvPr id="1" name=""/>
        <p:cNvGrpSpPr/>
        <p:nvPr/>
      </p:nvGrpSpPr>
      <p:grpSpPr>
        <a:xfrm>
          <a:off x="0" y="0"/>
          <a:ext cx="0" cy="0"/>
          <a:chOff x="0" y="0"/>
          <a:chExt cx="0" cy="0"/>
        </a:xfrm>
      </p:grpSpPr>
      <p:sp>
        <p:nvSpPr>
          <p:cNvPr id="27" name="Freihand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solidFill>
                <a:schemeClr val="tx1"/>
              </a:solidFill>
            </a:endParaRPr>
          </a:p>
        </p:txBody>
      </p:sp>
      <p:sp>
        <p:nvSpPr>
          <p:cNvPr id="18" name="Freihand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solidFill>
                <a:schemeClr val="tx1"/>
              </a:solidFill>
            </a:endParaRPr>
          </a:p>
        </p:txBody>
      </p:sp>
      <p:sp>
        <p:nvSpPr>
          <p:cNvPr id="14" name="Freihand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solidFill>
                <a:schemeClr val="tx1"/>
              </a:solidFill>
            </a:endParaRPr>
          </a:p>
        </p:txBody>
      </p:sp>
      <p:sp>
        <p:nvSpPr>
          <p:cNvPr id="16" name="Freihand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solidFill>
                <a:schemeClr val="tx1"/>
              </a:solidFill>
            </a:endParaRPr>
          </a:p>
        </p:txBody>
      </p:sp>
      <p:sp>
        <p:nvSpPr>
          <p:cNvPr id="20" name="Titel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rtlCol="0">
            <a:noAutofit/>
          </a:bodyPr>
          <a:lstStyle>
            <a:lvl1pPr algn="l">
              <a:lnSpc>
                <a:spcPct val="100000"/>
              </a:lnSpc>
              <a:defRPr lang="de-DE" sz="3600"/>
            </a:lvl1pPr>
          </a:lstStyle>
          <a:p>
            <a:pPr rtl="0"/>
            <a:r>
              <a:rPr lang="de-DE"/>
              <a:t>Titel durch Klicken hinzufügen</a:t>
            </a:r>
          </a:p>
        </p:txBody>
      </p:sp>
      <p:sp>
        <p:nvSpPr>
          <p:cNvPr id="19" name="Foliennummernplatzhalt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rtlCol="0"/>
          <a:lstStyle>
            <a:lvl1pPr>
              <a:defRPr lang="de-DE" sz="1600">
                <a:latin typeface="+mj-lt"/>
              </a:defRPr>
            </a:lvl1pPr>
          </a:lstStyle>
          <a:p>
            <a:pPr rtl="0"/>
            <a:fld id="{48F63A3B-78C7-47BE-AE5E-E10140E04643}" type="slidenum">
              <a:rPr lang="de-DE" smtClean="0"/>
              <a:pPr/>
              <a:t>‹Nr.›</a:t>
            </a:fld>
            <a:endParaRPr lang="de-DE" dirty="0"/>
          </a:p>
        </p:txBody>
      </p:sp>
      <p:sp>
        <p:nvSpPr>
          <p:cNvPr id="23" name="Inhaltsplatzhalt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rtlCol="0">
            <a:normAutofit/>
          </a:bodyPr>
          <a:lstStyle>
            <a:lvl1pPr marL="0" indent="0">
              <a:spcBef>
                <a:spcPts val="1000"/>
              </a:spcBef>
              <a:buNone/>
              <a:defRPr lang="de-DE" sz="1800"/>
            </a:lvl1pPr>
            <a:lvl2pPr marL="283464" indent="-283464">
              <a:spcBef>
                <a:spcPts val="1000"/>
              </a:spcBef>
              <a:defRPr lang="de-DE" sz="1800"/>
            </a:lvl2pPr>
            <a:lvl3pPr marL="283464" indent="-283464">
              <a:spcBef>
                <a:spcPts val="1000"/>
              </a:spcBef>
              <a:defRPr lang="de-DE" sz="1800"/>
            </a:lvl3pPr>
            <a:lvl4pPr marL="283464" indent="-283464">
              <a:spcBef>
                <a:spcPts val="1000"/>
              </a:spcBef>
              <a:defRPr lang="de-DE" sz="1800"/>
            </a:lvl4pPr>
            <a:lvl5pPr marL="283464" indent="-283464">
              <a:spcBef>
                <a:spcPts val="1000"/>
              </a:spcBef>
              <a:defRPr lang="de-DE" sz="1800"/>
            </a:lvl5pPr>
          </a:lstStyle>
          <a:p>
            <a:pPr lvl="0" rtl="0"/>
            <a:r>
              <a:rPr lang="de-DE"/>
              <a:t>Klicken Sie, um Text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25" name="Inhaltsplatzhalt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rtlCol="0">
            <a:normAutofit/>
          </a:bodyPr>
          <a:lstStyle>
            <a:lvl1pPr marL="0" indent="0">
              <a:spcBef>
                <a:spcPts val="1000"/>
              </a:spcBef>
              <a:buNone/>
              <a:defRPr lang="de-DE" sz="1800"/>
            </a:lvl1pPr>
            <a:lvl2pPr marL="283464" indent="-283464">
              <a:spcBef>
                <a:spcPts val="1000"/>
              </a:spcBef>
              <a:defRPr lang="de-DE" sz="1800"/>
            </a:lvl2pPr>
            <a:lvl3pPr marL="283464" indent="-283464">
              <a:spcBef>
                <a:spcPts val="1000"/>
              </a:spcBef>
              <a:defRPr lang="de-DE" sz="1800"/>
            </a:lvl3pPr>
            <a:lvl4pPr marL="283464" indent="-283464">
              <a:spcBef>
                <a:spcPts val="1000"/>
              </a:spcBef>
              <a:defRPr lang="de-DE" sz="1800"/>
            </a:lvl4pPr>
            <a:lvl5pPr marL="283464" indent="-283464">
              <a:spcBef>
                <a:spcPts val="1000"/>
              </a:spcBef>
              <a:defRPr lang="de-DE" sz="1800"/>
            </a:lvl5pPr>
          </a:lstStyle>
          <a:p>
            <a:pPr lvl="0" rtl="0"/>
            <a:r>
              <a:rPr lang="de-DE"/>
              <a:t>Klicken Sie, um Text hinzuzufügen.</a:t>
            </a:r>
          </a:p>
          <a:p>
            <a:pPr lvl="1" rtl="0"/>
            <a:r>
              <a:rPr lang="de-DE"/>
              <a:t>Zweite Ebene</a:t>
            </a:r>
          </a:p>
          <a:p>
            <a:pPr lvl="2" rtl="0"/>
            <a:r>
              <a:rPr lang="de-DE"/>
              <a:t>Dritte Ebene</a:t>
            </a:r>
          </a:p>
          <a:p>
            <a:pPr lvl="3" rtl="0"/>
            <a:r>
              <a:rPr lang="de-DE"/>
              <a:t>Vierte Ebene</a:t>
            </a:r>
          </a:p>
          <a:p>
            <a:pPr lvl="4" rtl="0"/>
            <a:r>
              <a:rPr lang="de-DE"/>
              <a:t>Fünfte Ebene</a:t>
            </a:r>
          </a:p>
        </p:txBody>
      </p:sp>
    </p:spTree>
    <p:extLst>
      <p:ext uri="{BB962C8B-B14F-4D97-AF65-F5344CB8AC3E}">
        <p14:creationId xmlns:p14="http://schemas.microsoft.com/office/powerpoint/2010/main" val="1686733275"/>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eitachse 1">
    <p:spTree>
      <p:nvGrpSpPr>
        <p:cNvPr id="1" name=""/>
        <p:cNvGrpSpPr/>
        <p:nvPr/>
      </p:nvGrpSpPr>
      <p:grpSpPr>
        <a:xfrm>
          <a:off x="0" y="0"/>
          <a:ext cx="0" cy="0"/>
          <a:chOff x="0" y="0"/>
          <a:chExt cx="0" cy="0"/>
        </a:xfrm>
      </p:grpSpPr>
      <p:sp>
        <p:nvSpPr>
          <p:cNvPr id="33" name="Rechteck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sz="450" dirty="0"/>
          </a:p>
        </p:txBody>
      </p:sp>
      <p:sp>
        <p:nvSpPr>
          <p:cNvPr id="34" name="Rechteck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sz="1600" dirty="0"/>
          </a:p>
        </p:txBody>
      </p:sp>
      <p:sp>
        <p:nvSpPr>
          <p:cNvPr id="2" name="Titel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rtlCol="0"/>
          <a:lstStyle>
            <a:lvl1pPr algn="l">
              <a:lnSpc>
                <a:spcPct val="100000"/>
              </a:lnSpc>
              <a:defRPr lang="de-DE" sz="3600">
                <a:solidFill>
                  <a:schemeClr val="accent6"/>
                </a:solidFill>
              </a:defRPr>
            </a:lvl1pPr>
          </a:lstStyle>
          <a:p>
            <a:pPr rtl="0"/>
            <a:r>
              <a:rPr lang="de-DE"/>
              <a:t>Titel durch Klicken hinzufügen</a:t>
            </a:r>
          </a:p>
        </p:txBody>
      </p:sp>
      <p:sp>
        <p:nvSpPr>
          <p:cNvPr id="5" name="Inhaltsplatzhalt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rtlCol="0">
            <a:normAutofit/>
          </a:bodyPr>
          <a:lstStyle>
            <a:lvl1pPr marL="457200" indent="-457200">
              <a:spcBef>
                <a:spcPts val="1000"/>
              </a:spcBef>
              <a:buFont typeface="+mj-lt"/>
              <a:buAutoNum type="arabicPeriod"/>
              <a:defRPr lang="de-DE" sz="1800"/>
            </a:lvl1pPr>
            <a:lvl2pPr marL="745236" indent="-342900">
              <a:spcBef>
                <a:spcPts val="1000"/>
              </a:spcBef>
              <a:buFont typeface="+mj-lt"/>
              <a:buAutoNum type="alphaLcPeriod"/>
              <a:defRPr lang="de-DE" sz="1800"/>
            </a:lvl2pPr>
            <a:lvl3pPr marL="1202436" indent="-342900">
              <a:spcBef>
                <a:spcPts val="1000"/>
              </a:spcBef>
              <a:buFont typeface="+mj-lt"/>
              <a:buAutoNum type="arabicParenR"/>
              <a:defRPr lang="de-DE" sz="1800"/>
            </a:lvl3pPr>
            <a:lvl4pPr marL="1659636" indent="-342900">
              <a:spcBef>
                <a:spcPts val="1000"/>
              </a:spcBef>
              <a:buFont typeface="+mj-lt"/>
              <a:buAutoNum type="alphaLcParenR"/>
              <a:defRPr lang="de-DE" sz="1800"/>
            </a:lvl4pPr>
            <a:lvl5pPr indent="-283464">
              <a:spcBef>
                <a:spcPts val="1000"/>
              </a:spcBef>
              <a:defRPr lang="de-DE" sz="1800"/>
            </a:lvl5pPr>
          </a:lstStyle>
          <a:p>
            <a:pPr lvl="0" rtl="0"/>
            <a:r>
              <a:rPr lang="de-DE"/>
              <a:t>Klicken Sie, um Text hinzuzufügen.</a:t>
            </a:r>
          </a:p>
          <a:p>
            <a:pPr lvl="1" rtl="0"/>
            <a:r>
              <a:rPr lang="de-DE"/>
              <a:t>Zweite Ebene</a:t>
            </a:r>
          </a:p>
          <a:p>
            <a:pPr lvl="2" rtl="0"/>
            <a:r>
              <a:rPr lang="de-DE"/>
              <a:t>Dritte Ebene</a:t>
            </a:r>
          </a:p>
          <a:p>
            <a:pPr lvl="3" rtl="0"/>
            <a:r>
              <a:rPr lang="de-DE"/>
              <a:t>Vierte Ebene</a:t>
            </a:r>
          </a:p>
        </p:txBody>
      </p:sp>
      <p:sp>
        <p:nvSpPr>
          <p:cNvPr id="3" name="Inhaltsplatzhalt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rtlCol="0">
            <a:normAutofit/>
          </a:bodyPr>
          <a:lstStyle>
            <a:lvl1pPr marL="0" indent="0">
              <a:spcBef>
                <a:spcPts val="1000"/>
              </a:spcBef>
              <a:buNone/>
              <a:defRPr lang="de-DE" sz="1800"/>
            </a:lvl1pPr>
            <a:lvl2pPr indent="-283464">
              <a:spcBef>
                <a:spcPts val="1000"/>
              </a:spcBef>
              <a:defRPr lang="de-DE" sz="1800"/>
            </a:lvl2pPr>
            <a:lvl3pPr indent="-283464">
              <a:spcBef>
                <a:spcPts val="1000"/>
              </a:spcBef>
              <a:defRPr lang="de-DE" sz="1800"/>
            </a:lvl3pPr>
            <a:lvl4pPr indent="-283464">
              <a:spcBef>
                <a:spcPts val="1000"/>
              </a:spcBef>
              <a:defRPr lang="de-DE" sz="1800"/>
            </a:lvl4pPr>
            <a:lvl5pPr indent="-283464">
              <a:spcBef>
                <a:spcPts val="1000"/>
              </a:spcBef>
              <a:defRPr lang="de-DE" sz="1800"/>
            </a:lvl5pPr>
          </a:lstStyle>
          <a:p>
            <a:pPr lvl="0" rtl="0"/>
            <a:r>
              <a:rPr lang="de-DE"/>
              <a:t>Klicken Sie, um Text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31" name="Bildplatzhalt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rtlCol="0">
            <a:noAutofit/>
          </a:bodyPr>
          <a:lstStyle>
            <a:lvl1pPr marL="0" indent="0">
              <a:buNone/>
              <a:defRPr lang="de-DE" sz="1800"/>
            </a:lvl1pPr>
          </a:lstStyle>
          <a:p>
            <a:pPr lvl="0" rtl="0"/>
            <a:r>
              <a:rPr lang="de-DE"/>
              <a:t>Klicken, um Bild hinzuzufügen</a:t>
            </a:r>
          </a:p>
        </p:txBody>
      </p:sp>
      <p:grpSp>
        <p:nvGrpSpPr>
          <p:cNvPr id="32" name="Gruppieren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ihandform: Form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p>
          </p:txBody>
        </p:sp>
        <p:sp>
          <p:nvSpPr>
            <p:cNvPr id="21" name="Freihandform: Form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solidFill>
                  <a:schemeClr val="tx1"/>
                </a:solidFill>
              </a:endParaRPr>
            </a:p>
          </p:txBody>
        </p:sp>
        <p:sp>
          <p:nvSpPr>
            <p:cNvPr id="22" name="Freihandform: Form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solidFill>
                  <a:schemeClr val="tx1"/>
                </a:solidFill>
              </a:endParaRPr>
            </a:p>
          </p:txBody>
        </p:sp>
        <p:sp>
          <p:nvSpPr>
            <p:cNvPr id="23" name="Bild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de-DE"/>
              </a:defPPr>
            </a:lstStyle>
            <a:p>
              <a:pPr rtl="0"/>
              <a:endParaRPr lang="de-DE" dirty="0"/>
            </a:p>
          </p:txBody>
        </p:sp>
      </p:grpSp>
      <p:sp>
        <p:nvSpPr>
          <p:cNvPr id="44" name="Foliennummernplatzhalt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rtlCol="0"/>
          <a:lstStyle>
            <a:lvl1pPr>
              <a:defRPr lang="de-DE" sz="1600">
                <a:latin typeface="+mj-lt"/>
              </a:defRPr>
            </a:lvl1pPr>
          </a:lstStyle>
          <a:p>
            <a:pPr rtl="0"/>
            <a:fld id="{48F63A3B-78C7-47BE-AE5E-E10140E04643}" type="slidenum">
              <a:rPr lang="de-DE" smtClean="0"/>
              <a:pPr/>
              <a:t>‹Nr.›</a:t>
            </a:fld>
            <a:endParaRPr lang="de-DE" dirty="0"/>
          </a:p>
        </p:txBody>
      </p:sp>
    </p:spTree>
    <p:extLst>
      <p:ext uri="{BB962C8B-B14F-4D97-AF65-F5344CB8AC3E}">
        <p14:creationId xmlns:p14="http://schemas.microsoft.com/office/powerpoint/2010/main" val="3183620452"/>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usammenfassung 2">
    <p:spTree>
      <p:nvGrpSpPr>
        <p:cNvPr id="1" name=""/>
        <p:cNvGrpSpPr/>
        <p:nvPr/>
      </p:nvGrpSpPr>
      <p:grpSpPr>
        <a:xfrm>
          <a:off x="0" y="0"/>
          <a:ext cx="0" cy="0"/>
          <a:chOff x="0" y="0"/>
          <a:chExt cx="0" cy="0"/>
        </a:xfrm>
      </p:grpSpPr>
      <p:sp>
        <p:nvSpPr>
          <p:cNvPr id="5" name="Freihand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defPPr>
              <a:defRPr lang="de-DE"/>
            </a:defPPr>
          </a:lstStyle>
          <a:p>
            <a:pPr rtl="0"/>
            <a:endParaRPr lang="de-DE" dirty="0"/>
          </a:p>
        </p:txBody>
      </p:sp>
      <p:sp>
        <p:nvSpPr>
          <p:cNvPr id="26" name="Bild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defPPr>
              <a:defRPr lang="de-DE"/>
            </a:defPPr>
          </a:lstStyle>
          <a:p>
            <a:pPr rtl="0"/>
            <a:endParaRPr lang="de-DE" dirty="0"/>
          </a:p>
        </p:txBody>
      </p:sp>
      <p:sp>
        <p:nvSpPr>
          <p:cNvPr id="14" name="Freihand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defPPr>
              <a:defRPr lang="de-DE"/>
            </a:defPPr>
          </a:lstStyle>
          <a:p>
            <a:pPr rtl="0"/>
            <a:endParaRPr lang="de-DE" dirty="0"/>
          </a:p>
        </p:txBody>
      </p:sp>
      <p:pic>
        <p:nvPicPr>
          <p:cNvPr id="21" name="Bild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ihand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defPPr>
              <a:defRPr lang="de-DE"/>
            </a:defPPr>
          </a:lstStyle>
          <a:p>
            <a:pPr rtl="0"/>
            <a:endParaRPr lang="de-DE" dirty="0"/>
          </a:p>
        </p:txBody>
      </p:sp>
      <p:sp>
        <p:nvSpPr>
          <p:cNvPr id="2" name="Titel 1"/>
          <p:cNvSpPr>
            <a:spLocks noGrp="1"/>
          </p:cNvSpPr>
          <p:nvPr>
            <p:ph type="title"/>
          </p:nvPr>
        </p:nvSpPr>
        <p:spPr>
          <a:xfrm>
            <a:off x="914400" y="1057274"/>
            <a:ext cx="7843837" cy="1012782"/>
          </a:xfrm>
        </p:spPr>
        <p:txBody>
          <a:bodyPr tIns="0" bIns="0" rtlCol="0">
            <a:noAutofit/>
          </a:bodyPr>
          <a:lstStyle>
            <a:lvl1pPr algn="l">
              <a:lnSpc>
                <a:spcPct val="100000"/>
              </a:lnSpc>
              <a:defRPr lang="de-DE" sz="3600" b="1"/>
            </a:lvl1pPr>
          </a:lstStyle>
          <a:p>
            <a:pPr rtl="0"/>
            <a:r>
              <a:rPr lang="de-DE"/>
              <a:t>Mastertitelformat bearbeiten</a:t>
            </a:r>
            <a:endParaRPr lang="de-DE" dirty="0"/>
          </a:p>
        </p:txBody>
      </p:sp>
      <p:sp>
        <p:nvSpPr>
          <p:cNvPr id="30" name="Inhaltsplatzhalt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rtlCol="0">
            <a:normAutofit/>
          </a:bodyPr>
          <a:lstStyle>
            <a:lvl1pPr marL="0" indent="0">
              <a:lnSpc>
                <a:spcPct val="100000"/>
              </a:lnSpc>
              <a:spcBef>
                <a:spcPts val="0"/>
              </a:spcBef>
              <a:buNone/>
              <a:defRPr lang="de-DE" sz="2400"/>
            </a:lvl1pPr>
            <a:lvl2pPr marL="347472">
              <a:lnSpc>
                <a:spcPct val="100000"/>
              </a:lnSpc>
              <a:spcBef>
                <a:spcPts val="0"/>
              </a:spcBef>
              <a:defRPr lang="de-DE" sz="2400"/>
            </a:lvl2pPr>
            <a:lvl3pPr marL="685800">
              <a:lnSpc>
                <a:spcPct val="100000"/>
              </a:lnSpc>
              <a:spcBef>
                <a:spcPts val="0"/>
              </a:spcBef>
              <a:defRPr lang="de-DE" sz="2400"/>
            </a:lvl3pPr>
          </a:lstStyle>
          <a:p>
            <a:pPr lvl="0" rtl="0"/>
            <a:r>
              <a:rPr lang="de-DE"/>
              <a:t>Klicken Sie, um Text hinzuzufügen.</a:t>
            </a:r>
          </a:p>
          <a:p>
            <a:pPr lvl="1" rtl="0"/>
            <a:r>
              <a:rPr lang="de-DE"/>
              <a:t>Zweite Ebene</a:t>
            </a:r>
          </a:p>
          <a:p>
            <a:pPr lvl="2" rtl="0"/>
            <a:r>
              <a:rPr lang="de-DE"/>
              <a:t>Dritte Ebene</a:t>
            </a:r>
          </a:p>
        </p:txBody>
      </p:sp>
      <p:sp>
        <p:nvSpPr>
          <p:cNvPr id="10" name="Bildplatzhalt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rtlCol="0">
            <a:normAutofit/>
          </a:bodyPr>
          <a:lstStyle>
            <a:lvl1pPr marL="0" indent="0">
              <a:buNone/>
              <a:defRPr lang="de-DE" sz="1800"/>
            </a:lvl1pPr>
          </a:lstStyle>
          <a:p>
            <a:pPr rtl="0"/>
            <a:r>
              <a:rPr lang="de-DE"/>
              <a:t>Bild durch Klicken auf Symbol hinzufügen</a:t>
            </a:r>
            <a:endParaRPr lang="de-DE" dirty="0"/>
          </a:p>
        </p:txBody>
      </p:sp>
      <p:sp>
        <p:nvSpPr>
          <p:cNvPr id="20" name="Foliennummernplatzhalt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rtlCol="0"/>
          <a:lstStyle>
            <a:lvl1pPr>
              <a:defRPr lang="de-DE" sz="1600">
                <a:latin typeface="+mj-lt"/>
              </a:defRPr>
            </a:lvl1pPr>
          </a:lstStyle>
          <a:p>
            <a:pPr rtl="0"/>
            <a:fld id="{48F63A3B-78C7-47BE-AE5E-E10140E04643}" type="slidenum">
              <a:rPr lang="de-DE" smtClean="0"/>
              <a:pPr/>
              <a:t>‹Nr.›</a:t>
            </a:fld>
            <a:endParaRPr lang="de-DE" dirty="0"/>
          </a:p>
        </p:txBody>
      </p:sp>
    </p:spTree>
    <p:extLst>
      <p:ext uri="{BB962C8B-B14F-4D97-AF65-F5344CB8AC3E}">
        <p14:creationId xmlns:p14="http://schemas.microsoft.com/office/powerpoint/2010/main" val="2207104535"/>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eitachse 3">
    <p:spTree>
      <p:nvGrpSpPr>
        <p:cNvPr id="1" name=""/>
        <p:cNvGrpSpPr/>
        <p:nvPr/>
      </p:nvGrpSpPr>
      <p:grpSpPr>
        <a:xfrm>
          <a:off x="0" y="0"/>
          <a:ext cx="0" cy="0"/>
          <a:chOff x="0" y="0"/>
          <a:chExt cx="0" cy="0"/>
        </a:xfrm>
      </p:grpSpPr>
      <p:sp>
        <p:nvSpPr>
          <p:cNvPr id="12" name="Freihand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p>
        </p:txBody>
      </p:sp>
      <p:sp>
        <p:nvSpPr>
          <p:cNvPr id="10" name="Freihand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de-DE"/>
            </a:defPPr>
          </a:lstStyle>
          <a:p>
            <a:pPr lvl="0" rtl="0"/>
            <a:endParaRPr lang="de-DE" dirty="0">
              <a:solidFill>
                <a:schemeClr val="tx1"/>
              </a:solidFill>
            </a:endParaRPr>
          </a:p>
        </p:txBody>
      </p:sp>
      <p:sp>
        <p:nvSpPr>
          <p:cNvPr id="30" name="Bild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de-DE"/>
            </a:defPPr>
          </a:lstStyle>
          <a:p>
            <a:pPr rtl="0"/>
            <a:endParaRPr lang="de-DE" dirty="0"/>
          </a:p>
        </p:txBody>
      </p:sp>
      <p:sp>
        <p:nvSpPr>
          <p:cNvPr id="6" name="Titel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rtlCol="0"/>
          <a:lstStyle>
            <a:lvl1pPr algn="l">
              <a:lnSpc>
                <a:spcPct val="100000"/>
              </a:lnSpc>
              <a:defRPr lang="de-DE" sz="3600">
                <a:solidFill>
                  <a:schemeClr val="accent6"/>
                </a:solidFill>
              </a:defRPr>
            </a:lvl1pPr>
          </a:lstStyle>
          <a:p>
            <a:pPr rtl="0"/>
            <a:r>
              <a:rPr lang="de-DE"/>
              <a:t>Titel durch Klicken hinzufügen</a:t>
            </a:r>
          </a:p>
        </p:txBody>
      </p:sp>
      <p:sp>
        <p:nvSpPr>
          <p:cNvPr id="4" name="Textplatzhalt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rtlCol="0" anchor="t" anchorCtr="0">
            <a:noAutofit/>
          </a:bodyPr>
          <a:lstStyle>
            <a:lvl1pPr marL="0" indent="0">
              <a:lnSpc>
                <a:spcPct val="100000"/>
              </a:lnSpc>
              <a:spcBef>
                <a:spcPts val="0"/>
              </a:spcBef>
              <a:spcAft>
                <a:spcPts val="1200"/>
              </a:spcAft>
              <a:buFont typeface="Arial" panose="020B0604020202020204" pitchFamily="34" charset="0"/>
              <a:buNone/>
              <a:defRPr lang="de-DE" sz="1800"/>
            </a:lvl1pPr>
          </a:lstStyle>
          <a:p>
            <a:pPr rtl="0"/>
            <a:r>
              <a:rPr lang="de-DE"/>
              <a:t>Untertitel durch Klicken hinzufügen</a:t>
            </a:r>
          </a:p>
        </p:txBody>
      </p:sp>
      <p:sp>
        <p:nvSpPr>
          <p:cNvPr id="9" name="Inhaltsplatzhalt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rtlCol="0">
            <a:normAutofit/>
          </a:bodyPr>
          <a:lstStyle>
            <a:lvl1pPr>
              <a:defRPr lang="de-DE" sz="1800"/>
            </a:lvl1pPr>
            <a:lvl2pPr>
              <a:defRPr lang="de-DE" sz="1800"/>
            </a:lvl2pPr>
            <a:lvl3pPr>
              <a:defRPr lang="de-DE" sz="1800"/>
            </a:lvl3pPr>
            <a:lvl4pPr>
              <a:defRPr lang="de-DE" sz="1800"/>
            </a:lvl4pPr>
            <a:lvl5pPr>
              <a:defRPr lang="de-DE" sz="1800"/>
            </a:lvl5pPr>
          </a:lstStyle>
          <a:p>
            <a:pPr lvl="0" rtl="0"/>
            <a:r>
              <a:rPr lang="de-DE"/>
              <a:t>Klicken Sie, um Text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20" name="Foliennummernplatzhalt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rtlCol="0"/>
          <a:lstStyle>
            <a:lvl1pPr>
              <a:defRPr lang="de-DE" sz="1600">
                <a:latin typeface="+mj-lt"/>
              </a:defRPr>
            </a:lvl1pPr>
          </a:lstStyle>
          <a:p>
            <a:pPr rtl="0"/>
            <a:fld id="{48F63A3B-78C7-47BE-AE5E-E10140E04643}" type="slidenum">
              <a:rPr lang="de-DE" smtClean="0"/>
              <a:pPr/>
              <a:t>‹Nr.›</a:t>
            </a:fld>
            <a:endParaRPr lang="de-DE" dirty="0"/>
          </a:p>
        </p:txBody>
      </p:sp>
    </p:spTree>
    <p:extLst>
      <p:ext uri="{BB962C8B-B14F-4D97-AF65-F5344CB8AC3E}">
        <p14:creationId xmlns:p14="http://schemas.microsoft.com/office/powerpoint/2010/main" val="2203958812"/>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usammenfassung 3">
    <p:spTree>
      <p:nvGrpSpPr>
        <p:cNvPr id="1" name=""/>
        <p:cNvGrpSpPr/>
        <p:nvPr/>
      </p:nvGrpSpPr>
      <p:grpSpPr>
        <a:xfrm>
          <a:off x="0" y="0"/>
          <a:ext cx="0" cy="0"/>
          <a:chOff x="0" y="0"/>
          <a:chExt cx="0" cy="0"/>
        </a:xfrm>
      </p:grpSpPr>
      <p:pic>
        <p:nvPicPr>
          <p:cNvPr id="29" name="Grafik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el 1"/>
          <p:cNvSpPr>
            <a:spLocks noGrp="1"/>
          </p:cNvSpPr>
          <p:nvPr>
            <p:ph type="title" hasCustomPrompt="1"/>
          </p:nvPr>
        </p:nvSpPr>
        <p:spPr>
          <a:xfrm>
            <a:off x="1550564" y="1057274"/>
            <a:ext cx="9875463" cy="999746"/>
          </a:xfrm>
        </p:spPr>
        <p:txBody>
          <a:bodyPr tIns="0" bIns="0" rtlCol="0">
            <a:noAutofit/>
          </a:bodyPr>
          <a:lstStyle>
            <a:lvl1pPr algn="l">
              <a:lnSpc>
                <a:spcPct val="100000"/>
              </a:lnSpc>
              <a:defRPr lang="de-DE" sz="3600" b="1"/>
            </a:lvl1pPr>
          </a:lstStyle>
          <a:p>
            <a:pPr rtl="0"/>
            <a:r>
              <a:rPr lang="de-DE"/>
              <a:t>Titel durch Klicken hinzufügen</a:t>
            </a:r>
          </a:p>
        </p:txBody>
      </p:sp>
      <p:sp>
        <p:nvSpPr>
          <p:cNvPr id="49" name="Freihand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defPPr>
              <a:defRPr lang="de-DE"/>
            </a:defPPr>
          </a:lstStyle>
          <a:p>
            <a:pPr rtl="0"/>
            <a:endParaRPr lang="de-DE" dirty="0"/>
          </a:p>
        </p:txBody>
      </p:sp>
      <p:sp>
        <p:nvSpPr>
          <p:cNvPr id="16" name="Inhaltsplatzhalt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rtlCol="0">
            <a:normAutofit/>
          </a:bodyPr>
          <a:lstStyle>
            <a:lvl1pPr>
              <a:spcBef>
                <a:spcPts val="1000"/>
              </a:spcBef>
              <a:defRPr lang="de-DE" sz="1800"/>
            </a:lvl1pPr>
            <a:lvl2pPr>
              <a:spcBef>
                <a:spcPts val="1000"/>
              </a:spcBef>
              <a:defRPr lang="de-DE" sz="1800"/>
            </a:lvl2pPr>
            <a:lvl3pPr>
              <a:spcBef>
                <a:spcPts val="1000"/>
              </a:spcBef>
              <a:defRPr lang="de-DE" sz="1800"/>
            </a:lvl3pPr>
            <a:lvl4pPr>
              <a:spcBef>
                <a:spcPts val="1000"/>
              </a:spcBef>
              <a:defRPr lang="de-DE" sz="1800"/>
            </a:lvl4pPr>
            <a:lvl5pPr>
              <a:spcBef>
                <a:spcPts val="1000"/>
              </a:spcBef>
              <a:defRPr lang="de-DE" sz="1800"/>
            </a:lvl5pPr>
          </a:lstStyle>
          <a:p>
            <a:pPr lvl="0" rtl="0"/>
            <a:r>
              <a:rPr lang="de-DE"/>
              <a:t>Klicken Sie, um Text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8" name="Inhaltsplatzhalt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rtlCol="0">
            <a:normAutofit/>
          </a:bodyPr>
          <a:lstStyle>
            <a:lvl1pPr>
              <a:spcBef>
                <a:spcPts val="1000"/>
              </a:spcBef>
              <a:defRPr lang="de-DE" sz="1800"/>
            </a:lvl1pPr>
            <a:lvl2pPr>
              <a:spcBef>
                <a:spcPts val="1000"/>
              </a:spcBef>
              <a:defRPr lang="de-DE" sz="1800"/>
            </a:lvl2pPr>
            <a:lvl3pPr>
              <a:spcBef>
                <a:spcPts val="1000"/>
              </a:spcBef>
              <a:defRPr lang="de-DE" sz="1800"/>
            </a:lvl3pPr>
            <a:lvl4pPr>
              <a:spcBef>
                <a:spcPts val="1000"/>
              </a:spcBef>
              <a:defRPr lang="de-DE" sz="1800"/>
            </a:lvl4pPr>
            <a:lvl5pPr>
              <a:spcBef>
                <a:spcPts val="1000"/>
              </a:spcBef>
              <a:defRPr lang="de-DE" sz="1800"/>
            </a:lvl5pPr>
          </a:lstStyle>
          <a:p>
            <a:pPr lvl="0" rtl="0"/>
            <a:r>
              <a:rPr lang="de-DE"/>
              <a:t>Klicken Sie, um Text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27" name="Foliennummernplatzhalt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rtlCol="0"/>
          <a:lstStyle>
            <a:lvl1pPr>
              <a:defRPr lang="de-DE" sz="1600">
                <a:latin typeface="+mj-lt"/>
              </a:defRPr>
            </a:lvl1pPr>
          </a:lstStyle>
          <a:p>
            <a:pPr rtl="0"/>
            <a:fld id="{48F63A3B-78C7-47BE-AE5E-E10140E04643}" type="slidenum">
              <a:rPr lang="de-DE" smtClean="0"/>
              <a:pPr/>
              <a:t>‹Nr.›</a:t>
            </a:fld>
            <a:endParaRPr lang="de-DE" dirty="0"/>
          </a:p>
        </p:txBody>
      </p:sp>
      <p:pic>
        <p:nvPicPr>
          <p:cNvPr id="43" name="Grafik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fik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Bild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de-DE"/>
            </a:defPPr>
          </a:lstStyle>
          <a:p>
            <a:pPr rtl="0"/>
            <a:endParaRPr lang="de-DE" dirty="0"/>
          </a:p>
        </p:txBody>
      </p:sp>
    </p:spTree>
    <p:extLst>
      <p:ext uri="{BB962C8B-B14F-4D97-AF65-F5344CB8AC3E}">
        <p14:creationId xmlns:p14="http://schemas.microsoft.com/office/powerpoint/2010/main" val="258665070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eitachse 2">
    <p:spTree>
      <p:nvGrpSpPr>
        <p:cNvPr id="1" name=""/>
        <p:cNvGrpSpPr/>
        <p:nvPr/>
      </p:nvGrpSpPr>
      <p:grpSpPr>
        <a:xfrm>
          <a:off x="0" y="0"/>
          <a:ext cx="0" cy="0"/>
          <a:chOff x="0" y="0"/>
          <a:chExt cx="0" cy="0"/>
        </a:xfrm>
      </p:grpSpPr>
      <p:sp>
        <p:nvSpPr>
          <p:cNvPr id="33" name="Rechteck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sz="450" dirty="0"/>
          </a:p>
        </p:txBody>
      </p:sp>
      <p:sp>
        <p:nvSpPr>
          <p:cNvPr id="34" name="Rechteck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sz="1600" dirty="0"/>
          </a:p>
        </p:txBody>
      </p:sp>
      <p:sp>
        <p:nvSpPr>
          <p:cNvPr id="2" name="Titel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rtlCol="0"/>
          <a:lstStyle>
            <a:lvl1pPr algn="ctr">
              <a:lnSpc>
                <a:spcPct val="100000"/>
              </a:lnSpc>
              <a:defRPr lang="de-DE" sz="3600">
                <a:solidFill>
                  <a:schemeClr val="accent6"/>
                </a:solidFill>
              </a:defRPr>
            </a:lvl1pPr>
          </a:lstStyle>
          <a:p>
            <a:pPr rtl="0"/>
            <a:r>
              <a:rPr lang="de-DE"/>
              <a:t>Titel durch Klicken hinzufügen</a:t>
            </a:r>
          </a:p>
        </p:txBody>
      </p:sp>
      <p:sp>
        <p:nvSpPr>
          <p:cNvPr id="14" name="Inhaltsplatzhalt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rtlCol="0">
            <a:normAutofit/>
          </a:bodyPr>
          <a:lstStyle>
            <a:lvl1pPr>
              <a:spcBef>
                <a:spcPts val="1000"/>
              </a:spcBef>
              <a:defRPr lang="de-DE" sz="1800"/>
            </a:lvl1pPr>
            <a:lvl2pPr>
              <a:spcBef>
                <a:spcPts val="1000"/>
              </a:spcBef>
              <a:defRPr lang="de-DE" sz="1800"/>
            </a:lvl2pPr>
            <a:lvl3pPr>
              <a:spcBef>
                <a:spcPts val="1000"/>
              </a:spcBef>
              <a:defRPr lang="de-DE" sz="1800"/>
            </a:lvl3pPr>
            <a:lvl4pPr>
              <a:spcBef>
                <a:spcPts val="1000"/>
              </a:spcBef>
              <a:defRPr lang="de-DE" sz="1800"/>
            </a:lvl4pPr>
            <a:lvl5pPr>
              <a:spcBef>
                <a:spcPts val="1000"/>
              </a:spcBef>
              <a:defRPr lang="de-DE" sz="1800"/>
            </a:lvl5pPr>
          </a:lstStyle>
          <a:p>
            <a:pPr lvl="0" rtl="0"/>
            <a:r>
              <a:rPr lang="de-DE"/>
              <a:t>Klicken Sie, um Text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6" name="Foliennummernplatzhalt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rtlCol="0"/>
          <a:lstStyle>
            <a:lvl1pPr>
              <a:defRPr lang="de-DE" sz="1600">
                <a:latin typeface="+mj-lt"/>
              </a:defRPr>
            </a:lvl1pPr>
          </a:lstStyle>
          <a:p>
            <a:pPr rtl="0"/>
            <a:fld id="{48F63A3B-78C7-47BE-AE5E-E10140E04643}" type="slidenum">
              <a:rPr lang="de-DE" smtClean="0"/>
              <a:pPr/>
              <a:t>‹Nr.›</a:t>
            </a:fld>
            <a:endParaRPr lang="de-DE" dirty="0"/>
          </a:p>
        </p:txBody>
      </p:sp>
    </p:spTree>
    <p:extLst>
      <p:ext uri="{BB962C8B-B14F-4D97-AF65-F5344CB8AC3E}">
        <p14:creationId xmlns:p14="http://schemas.microsoft.com/office/powerpoint/2010/main" val="2767508154"/>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chlussbemerkung">
    <p:bg>
      <p:bgPr>
        <a:solidFill>
          <a:schemeClr val="accent6"/>
        </a:solidFill>
        <a:effectLst/>
      </p:bgPr>
    </p:bg>
    <p:spTree>
      <p:nvGrpSpPr>
        <p:cNvPr id="1" name=""/>
        <p:cNvGrpSpPr/>
        <p:nvPr/>
      </p:nvGrpSpPr>
      <p:grpSpPr>
        <a:xfrm>
          <a:off x="0" y="0"/>
          <a:ext cx="0" cy="0"/>
          <a:chOff x="0" y="0"/>
          <a:chExt cx="0" cy="0"/>
        </a:xfrm>
      </p:grpSpPr>
      <p:sp>
        <p:nvSpPr>
          <p:cNvPr id="13" name="Freihandform: Form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lvl="0" rtl="0"/>
            <a:endParaRPr lang="de-DE" dirty="0">
              <a:solidFill>
                <a:schemeClr val="tx1"/>
              </a:solidFill>
            </a:endParaRPr>
          </a:p>
        </p:txBody>
      </p:sp>
      <p:sp>
        <p:nvSpPr>
          <p:cNvPr id="19" name="Freihandform: Form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defPPr>
              <a:defRPr lang="de-DE"/>
            </a:defPPr>
          </a:lstStyle>
          <a:p>
            <a:pPr rtl="0"/>
            <a:endParaRPr lang="de-DE" dirty="0"/>
          </a:p>
        </p:txBody>
      </p:sp>
      <p:pic>
        <p:nvPicPr>
          <p:cNvPr id="9" name="Bild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el 1"/>
          <p:cNvSpPr>
            <a:spLocks noGrp="1"/>
          </p:cNvSpPr>
          <p:nvPr>
            <p:ph type="ctrTitle" hasCustomPrompt="1"/>
          </p:nvPr>
        </p:nvSpPr>
        <p:spPr>
          <a:xfrm>
            <a:off x="914401" y="849782"/>
            <a:ext cx="5715000" cy="2727709"/>
          </a:xfrm>
        </p:spPr>
        <p:txBody>
          <a:bodyPr tIns="0" bIns="0" rtlCol="0" anchor="b" anchorCtr="0">
            <a:noAutofit/>
          </a:bodyPr>
          <a:lstStyle>
            <a:lvl1pPr algn="l">
              <a:lnSpc>
                <a:spcPct val="100000"/>
              </a:lnSpc>
              <a:defRPr lang="de-DE" sz="3600"/>
            </a:lvl1pPr>
          </a:lstStyle>
          <a:p>
            <a:pPr rtl="0"/>
            <a:r>
              <a:rPr lang="de-DE"/>
              <a:t>Titel durch Klicken hinzufügen</a:t>
            </a:r>
          </a:p>
        </p:txBody>
      </p:sp>
      <p:sp>
        <p:nvSpPr>
          <p:cNvPr id="6" name="Untertitel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rtlCol="0" anchor="t" anchorCtr="0">
            <a:normAutofit/>
          </a:bodyPr>
          <a:lstStyle>
            <a:lvl1pPr marL="0" indent="0" algn="l">
              <a:spcBef>
                <a:spcPts val="576"/>
              </a:spcBef>
              <a:buNone/>
              <a:defRPr lang="de-DE" sz="2400"/>
            </a:lvl1pPr>
            <a:lvl2pPr marL="457200" indent="0" algn="ctr">
              <a:buNone/>
              <a:defRPr lang="de-DE" sz="2000"/>
            </a:lvl2pPr>
            <a:lvl3pPr marL="914400" indent="0" algn="ctr">
              <a:buNone/>
              <a:defRPr lang="de-DE" sz="1800"/>
            </a:lvl3pPr>
            <a:lvl4pPr marL="1371600" indent="0" algn="ctr">
              <a:buNone/>
              <a:defRPr lang="de-DE" sz="1600"/>
            </a:lvl4pPr>
            <a:lvl5pPr marL="1828800" indent="0" algn="ctr">
              <a:buNone/>
              <a:defRPr lang="de-DE" sz="1600"/>
            </a:lvl5pPr>
            <a:lvl6pPr marL="2286000" indent="0" algn="ctr">
              <a:buNone/>
              <a:defRPr lang="de-DE" sz="1600"/>
            </a:lvl6pPr>
            <a:lvl7pPr marL="2743200" indent="0" algn="ctr">
              <a:buNone/>
              <a:defRPr lang="de-DE" sz="1600"/>
            </a:lvl7pPr>
            <a:lvl8pPr marL="3200400" indent="0" algn="ctr">
              <a:buNone/>
              <a:defRPr lang="de-DE" sz="1600"/>
            </a:lvl8pPr>
            <a:lvl9pPr marL="3657600" indent="0" algn="ctr">
              <a:buNone/>
              <a:defRPr lang="de-DE" sz="1600"/>
            </a:lvl9pPr>
          </a:lstStyle>
          <a:p>
            <a:pPr rtl="0"/>
            <a:r>
              <a:rPr lang="de-DE"/>
              <a:t>Untertitel durch Klicken hinzufügen</a:t>
            </a:r>
          </a:p>
        </p:txBody>
      </p:sp>
    </p:spTree>
    <p:extLst>
      <p:ext uri="{BB962C8B-B14F-4D97-AF65-F5344CB8AC3E}">
        <p14:creationId xmlns:p14="http://schemas.microsoft.com/office/powerpoint/2010/main" val="2372898826"/>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7" name="Freihandform: Form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lvl="0" rtl="0"/>
            <a:endParaRPr lang="de-DE" dirty="0">
              <a:solidFill>
                <a:schemeClr val="tx1"/>
              </a:solidFill>
            </a:endParaRPr>
          </a:p>
        </p:txBody>
      </p:sp>
      <p:sp>
        <p:nvSpPr>
          <p:cNvPr id="9" name="Freihandform: Form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lvl="0" rtl="0"/>
            <a:endParaRPr lang="de-DE" dirty="0">
              <a:solidFill>
                <a:schemeClr val="tx1"/>
              </a:solidFill>
            </a:endParaRPr>
          </a:p>
        </p:txBody>
      </p:sp>
      <p:sp>
        <p:nvSpPr>
          <p:cNvPr id="2" name="Titel 1"/>
          <p:cNvSpPr>
            <a:spLocks noGrp="1"/>
          </p:cNvSpPr>
          <p:nvPr>
            <p:ph type="title" hasCustomPrompt="1"/>
          </p:nvPr>
        </p:nvSpPr>
        <p:spPr/>
        <p:txBody>
          <a:bodyPr rtlCol="0" anchor="ctr" anchorCtr="0"/>
          <a:lstStyle>
            <a:defPPr>
              <a:defRPr lang="de-DE"/>
            </a:defPPr>
          </a:lstStyle>
          <a:p>
            <a:pPr rtl="0"/>
            <a:r>
              <a:rPr lang="de-DE"/>
              <a:t>Titel durch Klicken hinzufügen</a:t>
            </a:r>
          </a:p>
        </p:txBody>
      </p:sp>
      <p:sp>
        <p:nvSpPr>
          <p:cNvPr id="5" name="Foliennummernplatzhalter 4"/>
          <p:cNvSpPr>
            <a:spLocks noGrp="1"/>
          </p:cNvSpPr>
          <p:nvPr>
            <p:ph type="sldNum" sz="quarter" idx="12"/>
          </p:nvPr>
        </p:nvSpPr>
        <p:spPr/>
        <p:txBody>
          <a:bodyPr rtlCol="0"/>
          <a:lstStyle>
            <a:lvl1pPr>
              <a:defRPr lang="de-DE">
                <a:latin typeface="+mn-lt"/>
              </a:defRPr>
            </a:lvl1pPr>
          </a:lstStyle>
          <a:p>
            <a:pPr rtl="0"/>
            <a:fld id="{48F63A3B-78C7-47BE-AE5E-E10140E04643}" type="slidenum">
              <a:rPr lang="de-DE" smtClean="0"/>
              <a:pPr/>
              <a:t>‹Nr.›</a:t>
            </a:fld>
            <a:endParaRPr lang="de-DE" dirty="0"/>
          </a:p>
        </p:txBody>
      </p:sp>
    </p:spTree>
    <p:extLst>
      <p:ext uri="{BB962C8B-B14F-4D97-AF65-F5344CB8AC3E}">
        <p14:creationId xmlns:p14="http://schemas.microsoft.com/office/powerpoint/2010/main" val="2071868441"/>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6" name="Freihandform: Form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lvl="0" rtl="0"/>
            <a:endParaRPr lang="de-DE" dirty="0">
              <a:solidFill>
                <a:schemeClr val="tx1"/>
              </a:solidFill>
            </a:endParaRPr>
          </a:p>
        </p:txBody>
      </p:sp>
      <p:sp>
        <p:nvSpPr>
          <p:cNvPr id="8" name="Freihandform: Form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lvl="0" rtl="0"/>
            <a:endParaRPr lang="de-DE" dirty="0">
              <a:solidFill>
                <a:schemeClr val="tx1"/>
              </a:solidFill>
            </a:endParaRPr>
          </a:p>
        </p:txBody>
      </p:sp>
      <p:sp>
        <p:nvSpPr>
          <p:cNvPr id="4" name="Foliennummernplatzhalter 3"/>
          <p:cNvSpPr>
            <a:spLocks noGrp="1"/>
          </p:cNvSpPr>
          <p:nvPr>
            <p:ph type="sldNum" sz="quarter" idx="12"/>
          </p:nvPr>
        </p:nvSpPr>
        <p:spPr/>
        <p:txBody>
          <a:bodyPr rtlCol="0"/>
          <a:lstStyle>
            <a:lvl1pPr>
              <a:defRPr lang="de-DE">
                <a:latin typeface="+mn-lt"/>
              </a:defRPr>
            </a:lvl1pPr>
          </a:lstStyle>
          <a:p>
            <a:pPr rtl="0"/>
            <a:fld id="{48F63A3B-78C7-47BE-AE5E-E10140E04643}" type="slidenum">
              <a:rPr lang="de-DE" smtClean="0"/>
              <a:pPr/>
              <a:t>‹Nr.›</a:t>
            </a:fld>
            <a:endParaRPr lang="de-DE" dirty="0"/>
          </a:p>
        </p:txBody>
      </p:sp>
    </p:spTree>
    <p:extLst>
      <p:ext uri="{BB962C8B-B14F-4D97-AF65-F5344CB8AC3E}">
        <p14:creationId xmlns:p14="http://schemas.microsoft.com/office/powerpoint/2010/main" val="1581182869"/>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lvl="0" rtl="0"/>
            <a:endParaRPr lang="de-DE" dirty="0">
              <a:solidFill>
                <a:schemeClr val="tx1"/>
              </a:solidFill>
            </a:endParaRPr>
          </a:p>
        </p:txBody>
      </p:sp>
      <p:sp>
        <p:nvSpPr>
          <p:cNvPr id="2" name="Titel 1"/>
          <p:cNvSpPr>
            <a:spLocks noGrp="1"/>
          </p:cNvSpPr>
          <p:nvPr>
            <p:ph type="title" hasCustomPrompt="1"/>
          </p:nvPr>
        </p:nvSpPr>
        <p:spPr>
          <a:xfrm>
            <a:off x="758952" y="758952"/>
            <a:ext cx="3932237" cy="1524662"/>
          </a:xfrm>
        </p:spPr>
        <p:txBody>
          <a:bodyPr rtlCol="0" anchor="b"/>
          <a:lstStyle>
            <a:lvl1pPr>
              <a:lnSpc>
                <a:spcPct val="100000"/>
              </a:lnSpc>
              <a:defRPr lang="de-DE" sz="3200"/>
            </a:lvl1pPr>
          </a:lstStyle>
          <a:p>
            <a:pPr rtl="0"/>
            <a:r>
              <a:rPr lang="de-DE"/>
              <a:t>Titel durch Klicken hinzufügen</a:t>
            </a:r>
          </a:p>
        </p:txBody>
      </p:sp>
      <p:sp>
        <p:nvSpPr>
          <p:cNvPr id="7" name="Foliennummernplatzhalter 6"/>
          <p:cNvSpPr>
            <a:spLocks noGrp="1"/>
          </p:cNvSpPr>
          <p:nvPr>
            <p:ph type="sldNum" sz="quarter" idx="12"/>
          </p:nvPr>
        </p:nvSpPr>
        <p:spPr/>
        <p:txBody>
          <a:bodyPr rtlCol="0"/>
          <a:lstStyle>
            <a:lvl1pPr>
              <a:defRPr lang="de-DE">
                <a:latin typeface="+mn-lt"/>
              </a:defRPr>
            </a:lvl1pPr>
          </a:lstStyle>
          <a:p>
            <a:pPr rtl="0"/>
            <a:fld id="{48F63A3B-78C7-47BE-AE5E-E10140E04643}" type="slidenum">
              <a:rPr lang="de-DE" smtClean="0"/>
              <a:pPr/>
              <a:t>‹Nr.›</a:t>
            </a:fld>
            <a:endParaRPr lang="de-DE" dirty="0"/>
          </a:p>
        </p:txBody>
      </p:sp>
      <p:sp>
        <p:nvSpPr>
          <p:cNvPr id="4" name="Textplatzhalter 3"/>
          <p:cNvSpPr>
            <a:spLocks noGrp="1"/>
          </p:cNvSpPr>
          <p:nvPr>
            <p:ph type="body" sz="half" idx="2" hasCustomPrompt="1"/>
          </p:nvPr>
        </p:nvSpPr>
        <p:spPr>
          <a:xfrm>
            <a:off x="758952" y="2286000"/>
            <a:ext cx="3932237" cy="3567086"/>
          </a:xfrm>
        </p:spPr>
        <p:txBody>
          <a:bodyPr rtlCol="0"/>
          <a:lstStyle>
            <a:lvl1pPr marL="0" indent="0">
              <a:buNone/>
              <a:defRPr lang="de-DE" sz="1600"/>
            </a:lvl1pPr>
            <a:lvl2pPr marL="457200" indent="0">
              <a:buNone/>
              <a:defRPr lang="de-DE" sz="1400"/>
            </a:lvl2pPr>
            <a:lvl3pPr marL="914400" indent="0">
              <a:buNone/>
              <a:defRPr lang="de-DE" sz="1200"/>
            </a:lvl3pPr>
            <a:lvl4pPr marL="1371600" indent="0">
              <a:buNone/>
              <a:defRPr lang="de-DE" sz="1000"/>
            </a:lvl4pPr>
            <a:lvl5pPr marL="1828800" indent="0">
              <a:buNone/>
              <a:defRPr lang="de-DE" sz="1000"/>
            </a:lvl5pPr>
            <a:lvl6pPr marL="2286000" indent="0">
              <a:buNone/>
              <a:defRPr lang="de-DE" sz="1000"/>
            </a:lvl6pPr>
            <a:lvl7pPr marL="2743200" indent="0">
              <a:buNone/>
              <a:defRPr lang="de-DE" sz="1000"/>
            </a:lvl7pPr>
            <a:lvl8pPr marL="3200400" indent="0">
              <a:buNone/>
              <a:defRPr lang="de-DE" sz="1000"/>
            </a:lvl8pPr>
            <a:lvl9pPr marL="3657600" indent="0">
              <a:buNone/>
              <a:defRPr lang="de-DE" sz="1000"/>
            </a:lvl9pPr>
          </a:lstStyle>
          <a:p>
            <a:pPr lvl="0" rtl="0"/>
            <a:r>
              <a:rPr lang="de-DE"/>
              <a:t>Klicken Sie, um Text hinzuzufügen.</a:t>
            </a:r>
          </a:p>
        </p:txBody>
      </p:sp>
      <p:sp>
        <p:nvSpPr>
          <p:cNvPr id="3" name="Inhaltsplatzhalter 2"/>
          <p:cNvSpPr>
            <a:spLocks noGrp="1"/>
          </p:cNvSpPr>
          <p:nvPr>
            <p:ph idx="1" hasCustomPrompt="1"/>
          </p:nvPr>
        </p:nvSpPr>
        <p:spPr>
          <a:xfrm>
            <a:off x="5183187" y="741459"/>
            <a:ext cx="6242839" cy="5119592"/>
          </a:xfrm>
        </p:spPr>
        <p:txBody>
          <a:bodyPr rtlCol="0"/>
          <a:lstStyle>
            <a:lvl1pPr>
              <a:defRPr lang="de-DE" sz="3200"/>
            </a:lvl1pPr>
            <a:lvl2pPr>
              <a:defRPr lang="de-DE" sz="2800"/>
            </a:lvl2pPr>
            <a:lvl3pPr>
              <a:defRPr lang="de-DE" sz="2400"/>
            </a:lvl3pPr>
            <a:lvl4pPr>
              <a:defRPr lang="de-DE" sz="2000"/>
            </a:lvl4pPr>
            <a:lvl5pPr>
              <a:defRPr lang="de-DE" sz="2000"/>
            </a:lvl5pPr>
            <a:lvl6pPr>
              <a:defRPr lang="de-DE" sz="2000"/>
            </a:lvl6pPr>
            <a:lvl7pPr>
              <a:defRPr lang="de-DE" sz="2000"/>
            </a:lvl7pPr>
            <a:lvl8pPr>
              <a:defRPr lang="de-DE" sz="2000"/>
            </a:lvl8pPr>
            <a:lvl9pPr>
              <a:defRPr lang="de-DE" sz="2000"/>
            </a:lvl9pPr>
          </a:lstStyle>
          <a:p>
            <a:pPr lvl="0" rtl="0"/>
            <a:r>
              <a:rPr lang="de-DE"/>
              <a:t>Klicken Sie, um Text hinzuzufügen.</a:t>
            </a:r>
          </a:p>
          <a:p>
            <a:pPr lvl="1" rtl="0"/>
            <a:r>
              <a:rPr lang="de-DE"/>
              <a:t>Zweite Ebene</a:t>
            </a:r>
          </a:p>
          <a:p>
            <a:pPr lvl="2" rtl="0"/>
            <a:r>
              <a:rPr lang="de-DE"/>
              <a:t>Dritte Ebene</a:t>
            </a:r>
          </a:p>
          <a:p>
            <a:pPr lvl="3" rtl="0"/>
            <a:r>
              <a:rPr lang="de-DE"/>
              <a:t>Vierte Ebene</a:t>
            </a:r>
          </a:p>
          <a:p>
            <a:pPr lvl="4" rtl="0"/>
            <a:r>
              <a:rPr lang="de-DE"/>
              <a:t>Fünfte Ebene</a:t>
            </a:r>
          </a:p>
        </p:txBody>
      </p:sp>
    </p:spTree>
    <p:extLst>
      <p:ext uri="{BB962C8B-B14F-4D97-AF65-F5344CB8AC3E}">
        <p14:creationId xmlns:p14="http://schemas.microsoft.com/office/powerpoint/2010/main" val="2745005521"/>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lvl="0" rtl="0"/>
            <a:endParaRPr lang="de-DE" dirty="0">
              <a:solidFill>
                <a:schemeClr val="tx1"/>
              </a:solidFill>
            </a:endParaRPr>
          </a:p>
        </p:txBody>
      </p:sp>
      <p:sp>
        <p:nvSpPr>
          <p:cNvPr id="2" name="Titel 1"/>
          <p:cNvSpPr>
            <a:spLocks noGrp="1"/>
          </p:cNvSpPr>
          <p:nvPr>
            <p:ph type="title" hasCustomPrompt="1"/>
          </p:nvPr>
        </p:nvSpPr>
        <p:spPr>
          <a:xfrm>
            <a:off x="760938" y="755372"/>
            <a:ext cx="3931920" cy="1527048"/>
          </a:xfrm>
        </p:spPr>
        <p:txBody>
          <a:bodyPr rtlCol="0" anchor="b"/>
          <a:lstStyle>
            <a:lvl1pPr>
              <a:lnSpc>
                <a:spcPct val="100000"/>
              </a:lnSpc>
              <a:defRPr lang="de-DE" sz="3200"/>
            </a:lvl1pPr>
          </a:lstStyle>
          <a:p>
            <a:pPr rtl="0"/>
            <a:r>
              <a:rPr lang="de-DE"/>
              <a:t>Titel durch Klicken hinzufügen</a:t>
            </a:r>
          </a:p>
        </p:txBody>
      </p:sp>
      <p:sp>
        <p:nvSpPr>
          <p:cNvPr id="7" name="Foliennummernplatzhalter 6"/>
          <p:cNvSpPr>
            <a:spLocks noGrp="1"/>
          </p:cNvSpPr>
          <p:nvPr>
            <p:ph type="sldNum" sz="quarter" idx="12"/>
          </p:nvPr>
        </p:nvSpPr>
        <p:spPr/>
        <p:txBody>
          <a:bodyPr rtlCol="0"/>
          <a:lstStyle>
            <a:lvl1pPr>
              <a:defRPr lang="de-DE">
                <a:latin typeface="+mn-lt"/>
              </a:defRPr>
            </a:lvl1pPr>
          </a:lstStyle>
          <a:p>
            <a:pPr rtl="0"/>
            <a:fld id="{48F63A3B-78C7-47BE-AE5E-E10140E04643}" type="slidenum">
              <a:rPr lang="de-DE" smtClean="0"/>
              <a:pPr/>
              <a:t>‹Nr.›</a:t>
            </a:fld>
            <a:endParaRPr lang="de-DE" dirty="0"/>
          </a:p>
        </p:txBody>
      </p:sp>
      <p:sp>
        <p:nvSpPr>
          <p:cNvPr id="4" name="Textplatzhalter 3"/>
          <p:cNvSpPr>
            <a:spLocks noGrp="1"/>
          </p:cNvSpPr>
          <p:nvPr>
            <p:ph type="body" sz="half" idx="2" hasCustomPrompt="1"/>
          </p:nvPr>
        </p:nvSpPr>
        <p:spPr>
          <a:xfrm>
            <a:off x="760938" y="2286001"/>
            <a:ext cx="3931920" cy="3811588"/>
          </a:xfrm>
        </p:spPr>
        <p:txBody>
          <a:bodyPr rtlCol="0"/>
          <a:lstStyle>
            <a:lvl1pPr marL="0" indent="0">
              <a:buNone/>
              <a:defRPr lang="de-DE" sz="1600"/>
            </a:lvl1pPr>
            <a:lvl2pPr marL="457200" indent="0">
              <a:buNone/>
              <a:defRPr lang="de-DE" sz="1400"/>
            </a:lvl2pPr>
            <a:lvl3pPr marL="914400" indent="0">
              <a:buNone/>
              <a:defRPr lang="de-DE" sz="1200"/>
            </a:lvl3pPr>
            <a:lvl4pPr marL="1371600" indent="0">
              <a:buNone/>
              <a:defRPr lang="de-DE" sz="1000"/>
            </a:lvl4pPr>
            <a:lvl5pPr marL="1828800" indent="0">
              <a:buNone/>
              <a:defRPr lang="de-DE" sz="1000"/>
            </a:lvl5pPr>
            <a:lvl6pPr marL="2286000" indent="0">
              <a:buNone/>
              <a:defRPr lang="de-DE" sz="1000"/>
            </a:lvl6pPr>
            <a:lvl7pPr marL="2743200" indent="0">
              <a:buNone/>
              <a:defRPr lang="de-DE" sz="1000"/>
            </a:lvl7pPr>
            <a:lvl8pPr marL="3200400" indent="0">
              <a:buNone/>
              <a:defRPr lang="de-DE" sz="1000"/>
            </a:lvl8pPr>
            <a:lvl9pPr marL="3657600" indent="0">
              <a:buNone/>
              <a:defRPr lang="de-DE" sz="1000"/>
            </a:lvl9pPr>
          </a:lstStyle>
          <a:p>
            <a:pPr lvl="0" rtl="0"/>
            <a:r>
              <a:rPr lang="de-DE"/>
              <a:t>Klicken Sie, um Text hinzuzufügen.</a:t>
            </a:r>
          </a:p>
        </p:txBody>
      </p:sp>
      <p:sp>
        <p:nvSpPr>
          <p:cNvPr id="3" name="Bildplatzhalter 2"/>
          <p:cNvSpPr>
            <a:spLocks noGrp="1" noChangeAspect="1"/>
          </p:cNvSpPr>
          <p:nvPr>
            <p:ph type="pic" idx="1" hasCustomPrompt="1"/>
          </p:nvPr>
        </p:nvSpPr>
        <p:spPr>
          <a:xfrm>
            <a:off x="5262700" y="987425"/>
            <a:ext cx="6172200" cy="4873625"/>
          </a:xfrm>
        </p:spPr>
        <p:txBody>
          <a:bodyPr rtlCol="0" anchor="t">
            <a:normAutofit/>
          </a:bodyPr>
          <a:lstStyle>
            <a:lvl1pPr marL="0" indent="0" algn="ctr">
              <a:buNone/>
              <a:defRPr lang="de-DE" sz="2800"/>
            </a:lvl1pPr>
            <a:lvl2pPr marL="457200" indent="0">
              <a:buNone/>
              <a:defRPr lang="de-DE" sz="2800"/>
            </a:lvl2pPr>
            <a:lvl3pPr marL="914400" indent="0">
              <a:buNone/>
              <a:defRPr lang="de-DE" sz="2400"/>
            </a:lvl3pPr>
            <a:lvl4pPr marL="1371600" indent="0">
              <a:buNone/>
              <a:defRPr lang="de-DE" sz="2000"/>
            </a:lvl4pPr>
            <a:lvl5pPr marL="1828800" indent="0">
              <a:buNone/>
              <a:defRPr lang="de-DE" sz="2000"/>
            </a:lvl5pPr>
            <a:lvl6pPr marL="2286000" indent="0">
              <a:buNone/>
              <a:defRPr lang="de-DE" sz="2000"/>
            </a:lvl6pPr>
            <a:lvl7pPr marL="2743200" indent="0">
              <a:buNone/>
              <a:defRPr lang="de-DE" sz="2000"/>
            </a:lvl7pPr>
            <a:lvl8pPr marL="3200400" indent="0">
              <a:buNone/>
              <a:defRPr lang="de-DE" sz="2000"/>
            </a:lvl8pPr>
            <a:lvl9pPr marL="3657600" indent="0">
              <a:buNone/>
              <a:defRPr lang="de-DE" sz="2000"/>
            </a:lvl9pPr>
          </a:lstStyle>
          <a:p>
            <a:pPr rtl="0"/>
            <a:r>
              <a:rPr lang="de-DE"/>
              <a:t>Klicken, um Bild hinzuzufügen</a:t>
            </a:r>
          </a:p>
        </p:txBody>
      </p:sp>
    </p:spTree>
    <p:extLst>
      <p:ext uri="{BB962C8B-B14F-4D97-AF65-F5344CB8AC3E}">
        <p14:creationId xmlns:p14="http://schemas.microsoft.com/office/powerpoint/2010/main" val="2234670087"/>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lang="de-DE" sz="1200">
                <a:solidFill>
                  <a:schemeClr val="accent6"/>
                </a:solidFill>
                <a:latin typeface="+mn-lt"/>
                <a:cs typeface="Arial" panose="020B0604020202020204" pitchFamily="34" charset="0"/>
              </a:defRPr>
            </a:lvl1pPr>
          </a:lstStyle>
          <a:p>
            <a:pPr rtl="0"/>
            <a:fld id="{48F63A3B-78C7-47BE-AE5E-E10140E04643}" type="slidenum">
              <a:rPr lang="de-DE" smtClean="0"/>
              <a:pPr/>
              <a:t>‹Nr.›</a:t>
            </a:fld>
            <a:endParaRPr lang="de-DE" dirty="0"/>
          </a:p>
        </p:txBody>
      </p:sp>
      <p:sp>
        <p:nvSpPr>
          <p:cNvPr id="2" name="Titelplatzhalt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defPPr>
              <a:defRPr lang="de-DE"/>
            </a:defPPr>
          </a:lstStyle>
          <a:p>
            <a:pPr rtl="0"/>
            <a:r>
              <a:rPr lang="de-DE"/>
              <a:t>Titelmasterformat durch Klicken bearbeiten</a:t>
            </a:r>
            <a:endParaRPr lang="de-DE" dirty="0"/>
          </a:p>
        </p:txBody>
      </p:sp>
      <p:sp>
        <p:nvSpPr>
          <p:cNvPr id="3" name="Textplatzhalt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defPPr>
              <a:defRPr lang="de-DE"/>
            </a:def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endParaRPr lang="de-DE"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transition spd="slow">
    <p:wipe/>
  </p:transition>
  <p:hf hdr="0"/>
  <p:txStyles>
    <p:titleStyle>
      <a:lvl1pPr algn="ctr" defTabSz="914400" rtl="0" eaLnBrk="1" latinLnBrk="0" hangingPunct="1">
        <a:lnSpc>
          <a:spcPts val="4875"/>
        </a:lnSpc>
        <a:spcBef>
          <a:spcPct val="0"/>
        </a:spcBef>
        <a:buNone/>
        <a:defRPr lang="de-DE"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lang="de-DE"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lang="de-DE"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lang="de-DE"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lang="de-DE"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lang="de-DE"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p:bodyStyle>
    <p:otherStyle>
      <a:defPPr>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rktkampagne.csv"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hyperlink" Target="https://www.youtube.com/shorts/hrGC720lSB8"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07FF65-A536-F639-8591-ED024C223308}"/>
              </a:ext>
            </a:extLst>
          </p:cNvPr>
          <p:cNvSpPr>
            <a:spLocks noGrp="1"/>
          </p:cNvSpPr>
          <p:nvPr>
            <p:ph type="ctrTitle"/>
          </p:nvPr>
        </p:nvSpPr>
        <p:spPr>
          <a:xfrm>
            <a:off x="244659" y="2293745"/>
            <a:ext cx="7950651" cy="2727709"/>
          </a:xfrm>
        </p:spPr>
        <p:txBody>
          <a:bodyPr rtlCol="0" anchor="ctr"/>
          <a:lstStyle>
            <a:defPPr>
              <a:defRPr lang="de-DE"/>
            </a:defPPr>
          </a:lstStyle>
          <a:p>
            <a:pPr algn="ctr"/>
            <a:r>
              <a:rPr lang="de-DE" sz="2000" dirty="0">
                <a:latin typeface="+mn-lt"/>
              </a:rPr>
              <a:t>Kampagnen - ANALYSE </a:t>
            </a:r>
            <a:br>
              <a:rPr lang="de-DE" sz="2000" dirty="0">
                <a:latin typeface="+mn-lt"/>
              </a:rPr>
            </a:br>
            <a:r>
              <a:rPr lang="de-DE" sz="2000" dirty="0">
                <a:latin typeface="+mn-lt"/>
              </a:rPr>
              <a:t>Exploration, Modellierung und Entscheidung</a:t>
            </a:r>
            <a:br>
              <a:rPr lang="de-DE" sz="2000" dirty="0">
                <a:latin typeface="+mn-lt"/>
              </a:rPr>
            </a:br>
            <a:br>
              <a:rPr lang="de-DE" sz="2000" dirty="0">
                <a:latin typeface="+mn-lt"/>
              </a:rPr>
            </a:br>
            <a:r>
              <a:rPr lang="de-DE" sz="2000" dirty="0">
                <a:latin typeface="+mn-lt"/>
              </a:rPr>
              <a:t>***</a:t>
            </a:r>
            <a:br>
              <a:rPr lang="de-DE" sz="2000" dirty="0">
                <a:latin typeface="+mn-lt"/>
              </a:rPr>
            </a:br>
            <a:r>
              <a:rPr lang="de-DE" sz="2000" dirty="0">
                <a:latin typeface="+mn-lt"/>
                <a:hlinkClick r:id="rId3" action="ppaction://hlinkfile"/>
              </a:rPr>
              <a:t>marktkampagne.csv</a:t>
            </a:r>
            <a:br>
              <a:rPr lang="de-DE" sz="2000" dirty="0">
                <a:latin typeface="+mn-lt"/>
              </a:rPr>
            </a:br>
            <a:br>
              <a:rPr lang="de-DE" sz="2000" dirty="0">
                <a:latin typeface="+mn-lt"/>
              </a:rPr>
            </a:br>
            <a:r>
              <a:rPr lang="de-DE" sz="2000" dirty="0">
                <a:latin typeface="+mn-lt"/>
              </a:rPr>
              <a:t> </a:t>
            </a:r>
            <a:r>
              <a:rPr lang="de-DE" sz="2000" baseline="-25000" dirty="0">
                <a:latin typeface="+mn-lt"/>
              </a:rPr>
              <a:t>***</a:t>
            </a:r>
            <a:br>
              <a:rPr lang="de-DE" sz="2000" baseline="-25000" dirty="0">
                <a:latin typeface="+mn-lt"/>
              </a:rPr>
            </a:br>
            <a:br>
              <a:rPr lang="de-DE" sz="2000" dirty="0">
                <a:latin typeface="+mn-lt"/>
              </a:rPr>
            </a:br>
            <a:r>
              <a:rPr lang="de-DE" sz="1500" dirty="0">
                <a:latin typeface="+mn-lt"/>
              </a:rPr>
              <a:t>„</a:t>
            </a:r>
            <a:r>
              <a:rPr lang="de-DE" sz="1500" dirty="0" err="1">
                <a:latin typeface="+mn-lt"/>
              </a:rPr>
              <a:t>Machine</a:t>
            </a:r>
            <a:r>
              <a:rPr lang="de-DE" sz="1500" dirty="0">
                <a:latin typeface="+mn-lt"/>
              </a:rPr>
              <a:t> Learning ist kein Ziel,</a:t>
            </a:r>
            <a:br>
              <a:rPr lang="de-DE" sz="1500" dirty="0">
                <a:latin typeface="+mn-lt"/>
              </a:rPr>
            </a:br>
            <a:r>
              <a:rPr lang="de-DE" sz="1500" dirty="0">
                <a:latin typeface="+mn-lt"/>
              </a:rPr>
              <a:t>sondern ein Werkzeug für Entscheidungen.“</a:t>
            </a:r>
            <a:br>
              <a:rPr lang="de-DE" sz="2000" dirty="0">
                <a:latin typeface="+mn-lt"/>
              </a:rPr>
            </a:br>
            <a:br>
              <a:rPr lang="de-DE" sz="2000" dirty="0">
                <a:latin typeface="+mn-lt"/>
              </a:rPr>
            </a:br>
            <a:br>
              <a:rPr lang="de-DE" sz="2000" dirty="0">
                <a:latin typeface="+mn-lt"/>
              </a:rPr>
            </a:br>
            <a:r>
              <a:rPr lang="de-DE" sz="1000" dirty="0" err="1">
                <a:latin typeface="+mn-lt"/>
              </a:rPr>
              <a:t>powered</a:t>
            </a:r>
            <a:r>
              <a:rPr lang="de-DE" sz="1000" dirty="0">
                <a:latin typeface="+mn-lt"/>
              </a:rPr>
              <a:t> </a:t>
            </a:r>
            <a:r>
              <a:rPr lang="de-DE" sz="1000" dirty="0" err="1">
                <a:latin typeface="+mn-lt"/>
              </a:rPr>
              <a:t>by</a:t>
            </a:r>
            <a:r>
              <a:rPr lang="de-DE" sz="1000" dirty="0">
                <a:latin typeface="+mn-lt"/>
              </a:rPr>
              <a:t> Christin Gärtner</a:t>
            </a:r>
            <a:br>
              <a:rPr lang="de-DE" sz="1000" dirty="0">
                <a:latin typeface="+mn-lt"/>
              </a:rPr>
            </a:br>
            <a:br>
              <a:rPr lang="de-DE" sz="1000" dirty="0">
                <a:latin typeface="+mn-lt"/>
              </a:rPr>
            </a:br>
            <a:r>
              <a:rPr lang="de-DE" sz="1000" dirty="0">
                <a:latin typeface="+mn-lt"/>
              </a:rPr>
              <a:t>supportet </a:t>
            </a:r>
            <a:r>
              <a:rPr lang="de-DE" sz="1000" dirty="0" err="1">
                <a:latin typeface="+mn-lt"/>
              </a:rPr>
              <a:t>by</a:t>
            </a:r>
            <a:r>
              <a:rPr lang="de-DE" sz="1000" dirty="0">
                <a:latin typeface="+mn-lt"/>
              </a:rPr>
              <a:t> </a:t>
            </a:r>
            <a:r>
              <a:rPr lang="de-DE" sz="1000" dirty="0">
                <a:latin typeface="+mn-lt"/>
                <a:hlinkClick r:id="rId4"/>
              </a:rPr>
              <a:t>Teddy</a:t>
            </a:r>
            <a:endParaRPr lang="de-DE" sz="1000" dirty="0">
              <a:latin typeface="+mn-lt"/>
            </a:endParaRPr>
          </a:p>
        </p:txBody>
      </p:sp>
    </p:spTree>
    <p:extLst>
      <p:ext uri="{BB962C8B-B14F-4D97-AF65-F5344CB8AC3E}">
        <p14:creationId xmlns:p14="http://schemas.microsoft.com/office/powerpoint/2010/main" val="220243767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21072-4A77-DB4D-DF41-58EADB7DA94E}"/>
              </a:ext>
            </a:extLst>
          </p:cNvPr>
          <p:cNvSpPr>
            <a:spLocks noGrp="1"/>
          </p:cNvSpPr>
          <p:nvPr>
            <p:ph type="title"/>
          </p:nvPr>
        </p:nvSpPr>
        <p:spPr>
          <a:xfrm>
            <a:off x="765974" y="692943"/>
            <a:ext cx="6583680" cy="1531357"/>
          </a:xfrm>
        </p:spPr>
        <p:txBody>
          <a:bodyPr rtlCol="0"/>
          <a:lstStyle>
            <a:defPPr>
              <a:defRPr lang="de-DE"/>
            </a:defPPr>
          </a:lstStyle>
          <a:p>
            <a:pPr rtl="0"/>
            <a:r>
              <a:rPr lang="de-DE" dirty="0"/>
              <a:t>Agenda</a:t>
            </a:r>
          </a:p>
        </p:txBody>
      </p:sp>
      <p:sp>
        <p:nvSpPr>
          <p:cNvPr id="3" name="Inhaltsplatzhalter 2">
            <a:extLst>
              <a:ext uri="{FF2B5EF4-FFF2-40B4-BE49-F238E27FC236}">
                <a16:creationId xmlns:a16="http://schemas.microsoft.com/office/drawing/2014/main" id="{D4D22962-3C7F-E480-5C35-7F4860A098E1}"/>
              </a:ext>
            </a:extLst>
          </p:cNvPr>
          <p:cNvSpPr>
            <a:spLocks noGrp="1"/>
          </p:cNvSpPr>
          <p:nvPr>
            <p:ph idx="1"/>
          </p:nvPr>
        </p:nvSpPr>
        <p:spPr>
          <a:xfrm>
            <a:off x="169642" y="2270370"/>
            <a:ext cx="10959099" cy="3207344"/>
          </a:xfrm>
        </p:spPr>
        <p:txBody>
          <a:bodyPr rtlCol="0">
            <a:noAutofit/>
          </a:bodyPr>
          <a:lstStyle>
            <a:defPPr>
              <a:defRPr lang="de-DE"/>
            </a:defPPr>
          </a:lstStyle>
          <a:p>
            <a:pPr marL="342900" indent="-342900">
              <a:buFont typeface="Arial" panose="020B0604020202020204" pitchFamily="34" charset="0"/>
              <a:buChar char="•"/>
            </a:pPr>
            <a:r>
              <a:rPr lang="de-DE" sz="1700" dirty="0"/>
              <a:t>Kampagnen-Typologie (Clustering auf Kampagnenebene) </a:t>
            </a:r>
          </a:p>
          <a:p>
            <a:pPr marL="342900" indent="-342900">
              <a:buFont typeface="Arial" panose="020B0604020202020204" pitchFamily="34" charset="0"/>
              <a:buChar char="•"/>
            </a:pPr>
            <a:endParaRPr lang="de-DE" sz="1000" dirty="0"/>
          </a:p>
          <a:p>
            <a:pPr marL="342900" indent="-342900">
              <a:buFont typeface="Arial" panose="020B0604020202020204" pitchFamily="34" charset="0"/>
              <a:buChar char="•"/>
            </a:pPr>
            <a:r>
              <a:rPr lang="de-DE" sz="1700" dirty="0"/>
              <a:t>Reaktions-Sequenz-Typologie auf Kundenebene (</a:t>
            </a:r>
            <a:r>
              <a:rPr lang="de-DE" sz="1700" dirty="0" err="1"/>
              <a:t>Advanced</a:t>
            </a:r>
            <a:r>
              <a:rPr lang="de-DE" sz="1700" dirty="0"/>
              <a:t> Analytics) </a:t>
            </a:r>
          </a:p>
          <a:p>
            <a:pPr marL="690372" lvl="1" indent="-342900"/>
            <a:r>
              <a:rPr lang="de-DE" sz="1700" dirty="0"/>
              <a:t>Customer Journey pro Kampagne</a:t>
            </a:r>
          </a:p>
          <a:p>
            <a:pPr marL="690372" lvl="1" indent="-342900"/>
            <a:r>
              <a:rPr lang="de-DE" sz="1700" dirty="0"/>
              <a:t>Markov-Ketten (Reaktionstyp / Kampagnencluster)</a:t>
            </a:r>
          </a:p>
          <a:p>
            <a:pPr marL="690372" lvl="1" indent="-342900"/>
            <a:endParaRPr lang="de-DE" sz="1000" dirty="0"/>
          </a:p>
          <a:p>
            <a:pPr marL="342900" indent="-342900">
              <a:buFont typeface="Arial" panose="020B0604020202020204" pitchFamily="34" charset="0"/>
              <a:buChar char="•"/>
            </a:pPr>
            <a:r>
              <a:rPr lang="de-DE" sz="1700" dirty="0"/>
              <a:t>Modellvergleich: </a:t>
            </a:r>
            <a:r>
              <a:rPr lang="de-DE" sz="1700" dirty="0" err="1"/>
              <a:t>LogReg</a:t>
            </a:r>
            <a:r>
              <a:rPr lang="de-DE" sz="1700" dirty="0"/>
              <a:t> vs. Random Forest (High-Response-Kunden) </a:t>
            </a:r>
          </a:p>
          <a:p>
            <a:pPr marL="690372" lvl="1" indent="-342900"/>
            <a:r>
              <a:rPr lang="de-DE" sz="1700" dirty="0"/>
              <a:t>Threshold &amp; Recall Bestimmung</a:t>
            </a:r>
          </a:p>
          <a:p>
            <a:pPr marL="690372" lvl="1" indent="-342900"/>
            <a:r>
              <a:rPr lang="de-DE" sz="1700" dirty="0"/>
              <a:t>Simulationsrechner</a:t>
            </a:r>
          </a:p>
          <a:p>
            <a:pPr marL="690372" lvl="1" indent="-342900"/>
            <a:endParaRPr lang="de-DE" sz="1000" dirty="0"/>
          </a:p>
          <a:p>
            <a:pPr marL="342900" indent="-342900">
              <a:buFont typeface="Arial" panose="020B0604020202020204" pitchFamily="34" charset="0"/>
              <a:buChar char="•"/>
            </a:pPr>
            <a:r>
              <a:rPr lang="de-DE" sz="1700" dirty="0"/>
              <a:t>Feature </a:t>
            </a:r>
            <a:r>
              <a:rPr lang="de-DE" sz="1700" dirty="0" err="1"/>
              <a:t>Importance</a:t>
            </a:r>
            <a:r>
              <a:rPr lang="de-DE" sz="1700" dirty="0"/>
              <a:t> (Random Forest – High-Response-Kunden - Kampagnencluster)</a:t>
            </a:r>
          </a:p>
          <a:p>
            <a:endParaRPr lang="de-DE" sz="1000" dirty="0"/>
          </a:p>
          <a:p>
            <a:pPr marL="342900" indent="-342900">
              <a:buFont typeface="Arial" panose="020B0604020202020204" pitchFamily="34" charset="0"/>
              <a:buChar char="•"/>
            </a:pPr>
            <a:r>
              <a:rPr lang="de-DE" sz="1700" dirty="0"/>
              <a:t>Executive Summary</a:t>
            </a:r>
          </a:p>
          <a:p>
            <a:endParaRPr lang="de-DE" sz="1700" dirty="0"/>
          </a:p>
        </p:txBody>
      </p:sp>
    </p:spTree>
    <p:extLst>
      <p:ext uri="{BB962C8B-B14F-4D97-AF65-F5344CB8AC3E}">
        <p14:creationId xmlns:p14="http://schemas.microsoft.com/office/powerpoint/2010/main" val="391321975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4EDA75-0988-2AC2-87F8-8DEC83A7B9CA}"/>
              </a:ext>
            </a:extLst>
          </p:cNvPr>
          <p:cNvSpPr>
            <a:spLocks noGrp="1"/>
          </p:cNvSpPr>
          <p:nvPr>
            <p:ph type="title"/>
          </p:nvPr>
        </p:nvSpPr>
        <p:spPr>
          <a:xfrm>
            <a:off x="2960074" y="869262"/>
            <a:ext cx="5723586" cy="4739104"/>
          </a:xfrm>
        </p:spPr>
        <p:txBody>
          <a:bodyPr rtlCol="0"/>
          <a:lstStyle>
            <a:defPPr>
              <a:defRPr lang="de-DE"/>
            </a:defPPr>
          </a:lstStyle>
          <a:p>
            <a:pPr algn="ctr"/>
            <a:r>
              <a:rPr lang="de-DE" sz="2500" dirty="0">
                <a:latin typeface="+mn-lt"/>
              </a:rPr>
              <a:t>Kampagnen-Typologie (Clustering auf Kampagnenebene)</a:t>
            </a:r>
          </a:p>
        </p:txBody>
      </p:sp>
    </p:spTree>
    <p:extLst>
      <p:ext uri="{BB962C8B-B14F-4D97-AF65-F5344CB8AC3E}">
        <p14:creationId xmlns:p14="http://schemas.microsoft.com/office/powerpoint/2010/main" val="290649191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0C5C6-A893-E4D2-ED1A-D4832570F35D}"/>
            </a:ext>
          </a:extLst>
        </p:cNvPr>
        <p:cNvGrpSpPr/>
        <p:nvPr/>
      </p:nvGrpSpPr>
      <p:grpSpPr>
        <a:xfrm>
          <a:off x="0" y="0"/>
          <a:ext cx="0" cy="0"/>
          <a:chOff x="0" y="0"/>
          <a:chExt cx="0" cy="0"/>
        </a:xfrm>
      </p:grpSpPr>
      <p:pic>
        <p:nvPicPr>
          <p:cNvPr id="4" name="Grafik 3">
            <a:extLst>
              <a:ext uri="{FF2B5EF4-FFF2-40B4-BE49-F238E27FC236}">
                <a16:creationId xmlns:a16="http://schemas.microsoft.com/office/drawing/2014/main" id="{A0080FB4-3A4B-4ABE-E17C-E915D0A143E6}"/>
              </a:ext>
            </a:extLst>
          </p:cNvPr>
          <p:cNvPicPr>
            <a:picLocks noChangeAspect="1"/>
          </p:cNvPicPr>
          <p:nvPr/>
        </p:nvPicPr>
        <p:blipFill>
          <a:blip r:embed="rId3"/>
          <a:stretch>
            <a:fillRect/>
          </a:stretch>
        </p:blipFill>
        <p:spPr>
          <a:xfrm>
            <a:off x="729844" y="286750"/>
            <a:ext cx="5144218" cy="3034569"/>
          </a:xfrm>
          <a:prstGeom prst="rect">
            <a:avLst/>
          </a:prstGeom>
        </p:spPr>
      </p:pic>
      <p:pic>
        <p:nvPicPr>
          <p:cNvPr id="6" name="Grafik 5" descr="Ein Bild, das Text, Screenshot, Quadrat enthält.&#10;&#10;KI-generierte Inhalte können fehlerhaft sein.">
            <a:extLst>
              <a:ext uri="{FF2B5EF4-FFF2-40B4-BE49-F238E27FC236}">
                <a16:creationId xmlns:a16="http://schemas.microsoft.com/office/drawing/2014/main" id="{3043A6E8-26AA-C06D-F4D4-C527EB09A367}"/>
              </a:ext>
            </a:extLst>
          </p:cNvPr>
          <p:cNvPicPr>
            <a:picLocks noChangeAspect="1"/>
          </p:cNvPicPr>
          <p:nvPr/>
        </p:nvPicPr>
        <p:blipFill>
          <a:blip r:embed="rId4"/>
          <a:stretch>
            <a:fillRect/>
          </a:stretch>
        </p:blipFill>
        <p:spPr>
          <a:xfrm>
            <a:off x="6424862" y="201926"/>
            <a:ext cx="4322963" cy="3034569"/>
          </a:xfrm>
          <a:prstGeom prst="rect">
            <a:avLst/>
          </a:prstGeom>
        </p:spPr>
      </p:pic>
      <p:graphicFrame>
        <p:nvGraphicFramePr>
          <p:cNvPr id="9" name="Tabelle 8">
            <a:extLst>
              <a:ext uri="{FF2B5EF4-FFF2-40B4-BE49-F238E27FC236}">
                <a16:creationId xmlns:a16="http://schemas.microsoft.com/office/drawing/2014/main" id="{ED3ACC61-4A1C-8E46-C361-BF095FEF6541}"/>
              </a:ext>
            </a:extLst>
          </p:cNvPr>
          <p:cNvGraphicFramePr>
            <a:graphicFrameLocks noGrp="1"/>
          </p:cNvGraphicFramePr>
          <p:nvPr>
            <p:extLst>
              <p:ext uri="{D42A27DB-BD31-4B8C-83A1-F6EECF244321}">
                <p14:modId xmlns:p14="http://schemas.microsoft.com/office/powerpoint/2010/main" val="2255216927"/>
              </p:ext>
            </p:extLst>
          </p:nvPr>
        </p:nvGraphicFramePr>
        <p:xfrm>
          <a:off x="729845" y="4191623"/>
          <a:ext cx="5144217" cy="1024427"/>
        </p:xfrm>
        <a:graphic>
          <a:graphicData uri="http://schemas.openxmlformats.org/drawingml/2006/table">
            <a:tbl>
              <a:tblPr firstRow="1" bandRow="1">
                <a:tableStyleId>{3B4B98B0-60AC-42C2-AFA5-B58CD77FA1E5}</a:tableStyleId>
              </a:tblPr>
              <a:tblGrid>
                <a:gridCol w="1714739">
                  <a:extLst>
                    <a:ext uri="{9D8B030D-6E8A-4147-A177-3AD203B41FA5}">
                      <a16:colId xmlns:a16="http://schemas.microsoft.com/office/drawing/2014/main" val="2252699759"/>
                    </a:ext>
                  </a:extLst>
                </a:gridCol>
                <a:gridCol w="1714739">
                  <a:extLst>
                    <a:ext uri="{9D8B030D-6E8A-4147-A177-3AD203B41FA5}">
                      <a16:colId xmlns:a16="http://schemas.microsoft.com/office/drawing/2014/main" val="4039924352"/>
                    </a:ext>
                  </a:extLst>
                </a:gridCol>
                <a:gridCol w="1714739">
                  <a:extLst>
                    <a:ext uri="{9D8B030D-6E8A-4147-A177-3AD203B41FA5}">
                      <a16:colId xmlns:a16="http://schemas.microsoft.com/office/drawing/2014/main" val="826599858"/>
                    </a:ext>
                  </a:extLst>
                </a:gridCol>
              </a:tblGrid>
              <a:tr h="259545">
                <a:tc>
                  <a:txBody>
                    <a:bodyPr/>
                    <a:lstStyle/>
                    <a:p>
                      <a:pPr algn="r" fontAlgn="ctr">
                        <a:buNone/>
                      </a:pPr>
                      <a:r>
                        <a:rPr lang="de-DE" sz="900" b="1" i="0" u="none" strike="noStrike" dirty="0">
                          <a:solidFill>
                            <a:srgbClr val="000000"/>
                          </a:solidFill>
                          <a:effectLst/>
                          <a:latin typeface="Aptos Narrow" panose="020B0004020202020204" pitchFamily="34" charset="0"/>
                        </a:rPr>
                        <a:t>Cluster-ID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de-DE" sz="900" b="1" i="0" u="none" strike="noStrike" dirty="0">
                          <a:solidFill>
                            <a:srgbClr val="000000"/>
                          </a:solidFill>
                          <a:effectLst/>
                          <a:latin typeface="Aptos Narrow" panose="020B0004020202020204" pitchFamily="34" charset="0"/>
                        </a:rPr>
                        <a:t>Clustername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de-DE" sz="900" b="1" i="0" u="none" strike="noStrike">
                          <a:solidFill>
                            <a:srgbClr val="000000"/>
                          </a:solidFill>
                          <a:effectLst/>
                          <a:latin typeface="Aptos Narrow" panose="020B0004020202020204" pitchFamily="34" charset="0"/>
                        </a:rPr>
                        <a:t>Zugeordnete Kampagnen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8855211"/>
                  </a:ext>
                </a:extLst>
              </a:tr>
              <a:tr h="0">
                <a:tc>
                  <a:txBody>
                    <a:bodyPr/>
                    <a:lstStyle/>
                    <a:p>
                      <a:pPr algn="r" fontAlgn="ctr">
                        <a:buNone/>
                      </a:pPr>
                      <a:r>
                        <a:rPr lang="de-DE" sz="900" b="1" i="0" u="none" strike="noStrike">
                          <a:solidFill>
                            <a:srgbClr val="000000"/>
                          </a:solidFill>
                          <a:effectLst/>
                          <a:latin typeface="Aptos Narrow" panose="020B0004020202020204"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de-DE" sz="900" b="0" i="0" u="none" strike="noStrike" dirty="0">
                          <a:solidFill>
                            <a:srgbClr val="000000"/>
                          </a:solidFill>
                          <a:effectLst/>
                          <a:latin typeface="Aptos Narrow" panose="020B0004020202020204" pitchFamily="34" charset="0"/>
                        </a:rPr>
                        <a:t>Rabatt-orientierte Kampagnen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de-DE" sz="900" b="0" i="0" u="none" strike="noStrike" dirty="0">
                          <a:solidFill>
                            <a:srgbClr val="000000"/>
                          </a:solidFill>
                          <a:effectLst/>
                          <a:latin typeface="Aptos Narrow" panose="020B0004020202020204" pitchFamily="34" charset="0"/>
                        </a:rPr>
                        <a:t>Kampagne  3, letzte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773569"/>
                  </a:ext>
                </a:extLst>
              </a:tr>
              <a:tr h="259545">
                <a:tc>
                  <a:txBody>
                    <a:bodyPr/>
                    <a:lstStyle/>
                    <a:p>
                      <a:pPr algn="r" fontAlgn="ctr">
                        <a:buNone/>
                      </a:pPr>
                      <a:r>
                        <a:rPr lang="de-DE" sz="900" b="1" i="0" u="none" strike="noStrike" dirty="0">
                          <a:solidFill>
                            <a:srgbClr val="000000"/>
                          </a:solidFill>
                          <a:effectLst/>
                          <a:latin typeface="Aptos Narrow" panose="020B000402020202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de-DE" sz="900" b="0" i="0" u="none" strike="noStrike" dirty="0">
                          <a:solidFill>
                            <a:srgbClr val="000000"/>
                          </a:solidFill>
                          <a:effectLst/>
                          <a:latin typeface="Aptos Narrow" panose="020B0004020202020204" pitchFamily="34" charset="0"/>
                        </a:rPr>
                        <a:t>Premium-orientierte Kampagnen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de-DE" sz="900" b="0" i="0" u="none" strike="noStrike" dirty="0">
                          <a:solidFill>
                            <a:srgbClr val="000000"/>
                          </a:solidFill>
                          <a:effectLst/>
                          <a:latin typeface="Aptos Narrow" panose="020B0004020202020204" pitchFamily="34" charset="0"/>
                        </a:rPr>
                        <a:t>Kampagne 1, 2, 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113147"/>
                  </a:ext>
                </a:extLst>
              </a:tr>
              <a:tr h="358652">
                <a:tc>
                  <a:txBody>
                    <a:bodyPr/>
                    <a:lstStyle/>
                    <a:p>
                      <a:pPr algn="r" fontAlgn="ctr">
                        <a:buNone/>
                      </a:pPr>
                      <a:r>
                        <a:rPr lang="de-DE" sz="900" b="1" i="0" u="none" strike="noStrike">
                          <a:solidFill>
                            <a:srgbClr val="000000"/>
                          </a:solidFill>
                          <a:effectLst/>
                          <a:latin typeface="Aptos Narrow" panose="020B0004020202020204"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de-DE" sz="900" b="0" i="0" u="none" strike="noStrike">
                          <a:solidFill>
                            <a:srgbClr val="000000"/>
                          </a:solidFill>
                          <a:effectLst/>
                          <a:latin typeface="Aptos Narrow" panose="020B0004020202020204" pitchFamily="34" charset="0"/>
                        </a:rPr>
                        <a:t>Loyalitäts-orientierte Kampagnen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de-DE" sz="900" b="0" i="0" u="none" strike="noStrike" dirty="0">
                          <a:solidFill>
                            <a:srgbClr val="000000"/>
                          </a:solidFill>
                          <a:effectLst/>
                          <a:latin typeface="Aptos Narrow" panose="020B0004020202020204" pitchFamily="34" charset="0"/>
                        </a:rPr>
                        <a:t>Kampagne  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1600639"/>
                  </a:ext>
                </a:extLst>
              </a:tr>
            </a:tbl>
          </a:graphicData>
        </a:graphic>
      </p:graphicFrame>
      <p:pic>
        <p:nvPicPr>
          <p:cNvPr id="3" name="Grafik 2" descr="Ein Bild, das Text, Reihe, Diagramm, Zahl enthält.&#10;&#10;KI-generierte Inhalte können fehlerhaft sein.">
            <a:extLst>
              <a:ext uri="{FF2B5EF4-FFF2-40B4-BE49-F238E27FC236}">
                <a16:creationId xmlns:a16="http://schemas.microsoft.com/office/drawing/2014/main" id="{C187F1B5-407E-2F3F-B878-C02A0E02323D}"/>
              </a:ext>
            </a:extLst>
          </p:cNvPr>
          <p:cNvPicPr>
            <a:picLocks noChangeAspect="1"/>
          </p:cNvPicPr>
          <p:nvPr/>
        </p:nvPicPr>
        <p:blipFill>
          <a:blip r:embed="rId5"/>
          <a:stretch>
            <a:fillRect/>
          </a:stretch>
        </p:blipFill>
        <p:spPr>
          <a:xfrm>
            <a:off x="7198073" y="3371485"/>
            <a:ext cx="3059261" cy="2727056"/>
          </a:xfrm>
          <a:prstGeom prst="rect">
            <a:avLst/>
          </a:prstGeom>
        </p:spPr>
      </p:pic>
    </p:spTree>
    <p:extLst>
      <p:ext uri="{BB962C8B-B14F-4D97-AF65-F5344CB8AC3E}">
        <p14:creationId xmlns:p14="http://schemas.microsoft.com/office/powerpoint/2010/main" val="366299701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4D8DD-8933-EFFB-7AB7-DA2988D1B11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8785708-9956-95DE-DED2-E9D7D518F0C2}"/>
              </a:ext>
            </a:extLst>
          </p:cNvPr>
          <p:cNvSpPr>
            <a:spLocks noGrp="1"/>
          </p:cNvSpPr>
          <p:nvPr>
            <p:ph type="title"/>
          </p:nvPr>
        </p:nvSpPr>
        <p:spPr>
          <a:xfrm>
            <a:off x="2384491" y="3152640"/>
            <a:ext cx="8445090" cy="1515245"/>
          </a:xfrm>
        </p:spPr>
        <p:txBody>
          <a:bodyPr rtlCol="0"/>
          <a:lstStyle>
            <a:defPPr>
              <a:defRPr lang="de-DE"/>
            </a:defPPr>
          </a:lstStyle>
          <a:p>
            <a:pPr algn="ctr"/>
            <a:r>
              <a:rPr lang="de-DE" sz="2500" dirty="0">
                <a:latin typeface="+mn-lt"/>
              </a:rPr>
              <a:t>Reaktions-Sequenz-Typologie auf Kundenebene (</a:t>
            </a:r>
            <a:r>
              <a:rPr lang="de-DE" sz="2500" dirty="0" err="1">
                <a:latin typeface="+mn-lt"/>
              </a:rPr>
              <a:t>Advanced</a:t>
            </a:r>
            <a:r>
              <a:rPr lang="de-DE" sz="2500" dirty="0">
                <a:latin typeface="+mn-lt"/>
              </a:rPr>
              <a:t> Analytics) </a:t>
            </a:r>
            <a:br>
              <a:rPr lang="de-DE" sz="2500" dirty="0">
                <a:latin typeface="+mn-lt"/>
              </a:rPr>
            </a:br>
            <a:br>
              <a:rPr lang="de-DE" sz="2500" dirty="0">
                <a:latin typeface="+mn-lt"/>
              </a:rPr>
            </a:br>
            <a:r>
              <a:rPr lang="de-DE" sz="2000" dirty="0">
                <a:latin typeface="+mn-lt"/>
              </a:rPr>
              <a:t>Customer Journey pro Reaktionstyp / Kampagne</a:t>
            </a:r>
            <a:br>
              <a:rPr lang="de-DE" sz="2000" dirty="0">
                <a:latin typeface="+mn-lt"/>
              </a:rPr>
            </a:br>
            <a:br>
              <a:rPr lang="de-DE" sz="2000" dirty="0">
                <a:latin typeface="+mn-lt"/>
              </a:rPr>
            </a:br>
            <a:r>
              <a:rPr lang="de-DE" sz="2000" dirty="0">
                <a:latin typeface="+mn-lt"/>
              </a:rPr>
              <a:t>Markov-Ketten pro Reaktionstyp / Kampagnencluster</a:t>
            </a:r>
          </a:p>
        </p:txBody>
      </p:sp>
    </p:spTree>
    <p:extLst>
      <p:ext uri="{BB962C8B-B14F-4D97-AF65-F5344CB8AC3E}">
        <p14:creationId xmlns:p14="http://schemas.microsoft.com/office/powerpoint/2010/main" val="8859049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3B219B-7E3A-7E84-6386-37313F0CFB09}"/>
              </a:ext>
            </a:extLst>
          </p:cNvPr>
          <p:cNvSpPr>
            <a:spLocks noGrp="1"/>
          </p:cNvSpPr>
          <p:nvPr>
            <p:ph type="title"/>
          </p:nvPr>
        </p:nvSpPr>
        <p:spPr>
          <a:xfrm>
            <a:off x="2059639" y="1072278"/>
            <a:ext cx="7878446" cy="840744"/>
          </a:xfrm>
        </p:spPr>
        <p:txBody>
          <a:bodyPr rtlCol="0"/>
          <a:lstStyle>
            <a:defPPr>
              <a:defRPr lang="de-DE"/>
            </a:defPPr>
          </a:lstStyle>
          <a:p>
            <a:pPr algn="ctr"/>
            <a:r>
              <a:rPr lang="de-DE" sz="2000" dirty="0">
                <a:latin typeface="+mn-lt"/>
              </a:rPr>
              <a:t>Reaktions-Sequenz-Typologie auf Kundenebene </a:t>
            </a:r>
            <a:br>
              <a:rPr lang="de-DE" sz="2000" dirty="0">
                <a:latin typeface="+mn-lt"/>
              </a:rPr>
            </a:br>
            <a:br>
              <a:rPr lang="de-DE" sz="2000" dirty="0">
                <a:latin typeface="+mn-lt"/>
              </a:rPr>
            </a:br>
            <a:endParaRPr lang="de-DE" sz="2000" dirty="0">
              <a:latin typeface="+mn-lt"/>
            </a:endParaRPr>
          </a:p>
        </p:txBody>
      </p:sp>
      <p:pic>
        <p:nvPicPr>
          <p:cNvPr id="4" name="Grafik 3" descr="Ein Bild, das Text, Screenshot, Diagramm, Zahl enthält.&#10;&#10;KI-generierte Inhalte können fehlerhaft sein.">
            <a:extLst>
              <a:ext uri="{FF2B5EF4-FFF2-40B4-BE49-F238E27FC236}">
                <a16:creationId xmlns:a16="http://schemas.microsoft.com/office/drawing/2014/main" id="{1DBB5116-8D0C-7E4C-BFFB-AE7CDA17029B}"/>
              </a:ext>
            </a:extLst>
          </p:cNvPr>
          <p:cNvPicPr>
            <a:picLocks noChangeAspect="1"/>
          </p:cNvPicPr>
          <p:nvPr/>
        </p:nvPicPr>
        <p:blipFill>
          <a:blip r:embed="rId3"/>
          <a:stretch>
            <a:fillRect/>
          </a:stretch>
        </p:blipFill>
        <p:spPr>
          <a:xfrm>
            <a:off x="3617495" y="3403645"/>
            <a:ext cx="7257332" cy="3082668"/>
          </a:xfrm>
          <a:prstGeom prst="rect">
            <a:avLst/>
          </a:prstGeom>
        </p:spPr>
      </p:pic>
      <p:pic>
        <p:nvPicPr>
          <p:cNvPr id="6" name="Grafik 5" descr="Ein Bild, das Text, Screenshot, Schrift, Zahl enthält.&#10;&#10;KI-generierte Inhalte können fehlerhaft sein.">
            <a:extLst>
              <a:ext uri="{FF2B5EF4-FFF2-40B4-BE49-F238E27FC236}">
                <a16:creationId xmlns:a16="http://schemas.microsoft.com/office/drawing/2014/main" id="{4B6F363A-E839-902B-93AD-7CD76AA08DCB}"/>
              </a:ext>
            </a:extLst>
          </p:cNvPr>
          <p:cNvPicPr>
            <a:picLocks noChangeAspect="1"/>
          </p:cNvPicPr>
          <p:nvPr/>
        </p:nvPicPr>
        <p:blipFill>
          <a:blip r:embed="rId4"/>
          <a:stretch>
            <a:fillRect/>
          </a:stretch>
        </p:blipFill>
        <p:spPr>
          <a:xfrm>
            <a:off x="965146" y="1757344"/>
            <a:ext cx="5569667" cy="1286645"/>
          </a:xfrm>
          <a:prstGeom prst="rect">
            <a:avLst/>
          </a:prstGeom>
        </p:spPr>
      </p:pic>
    </p:spTree>
    <p:extLst>
      <p:ext uri="{BB962C8B-B14F-4D97-AF65-F5344CB8AC3E}">
        <p14:creationId xmlns:p14="http://schemas.microsoft.com/office/powerpoint/2010/main" val="295292380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F96A7-D062-55B2-AA4E-5D12FC1BFCF6}"/>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5AAACEBF-C17F-AA07-5A58-8AE1E6E380DE}"/>
              </a:ext>
            </a:extLst>
          </p:cNvPr>
          <p:cNvSpPr txBox="1"/>
          <p:nvPr/>
        </p:nvSpPr>
        <p:spPr>
          <a:xfrm>
            <a:off x="1925052" y="1407128"/>
            <a:ext cx="8109285" cy="400110"/>
          </a:xfrm>
          <a:prstGeom prst="rect">
            <a:avLst/>
          </a:prstGeom>
          <a:noFill/>
        </p:spPr>
        <p:txBody>
          <a:bodyPr wrap="square" rtlCol="0">
            <a:spAutoFit/>
          </a:bodyPr>
          <a:lstStyle/>
          <a:p>
            <a:pPr algn="ctr"/>
            <a:r>
              <a:rPr lang="de-DE" sz="2000" b="1" dirty="0">
                <a:solidFill>
                  <a:srgbClr val="202C8F"/>
                </a:solidFill>
              </a:rPr>
              <a:t>Customer Journey pro Reaktionstyp / Kampagne</a:t>
            </a:r>
          </a:p>
        </p:txBody>
      </p:sp>
      <p:pic>
        <p:nvPicPr>
          <p:cNvPr id="8" name="Grafik 7" descr="Ein Bild, das Text, Screenshot, Diagramm, parallel enthält.&#10;&#10;KI-generierte Inhalte können fehlerhaft sein.">
            <a:extLst>
              <a:ext uri="{FF2B5EF4-FFF2-40B4-BE49-F238E27FC236}">
                <a16:creationId xmlns:a16="http://schemas.microsoft.com/office/drawing/2014/main" id="{7F5CA455-1DCC-79B7-E847-35D05B619897}"/>
              </a:ext>
            </a:extLst>
          </p:cNvPr>
          <p:cNvPicPr>
            <a:picLocks noChangeAspect="1"/>
          </p:cNvPicPr>
          <p:nvPr/>
        </p:nvPicPr>
        <p:blipFill>
          <a:blip r:embed="rId3"/>
          <a:stretch>
            <a:fillRect/>
          </a:stretch>
        </p:blipFill>
        <p:spPr>
          <a:xfrm>
            <a:off x="2790935" y="2270907"/>
            <a:ext cx="5736121" cy="3645152"/>
          </a:xfrm>
          <a:prstGeom prst="rect">
            <a:avLst/>
          </a:prstGeom>
        </p:spPr>
      </p:pic>
    </p:spTree>
    <p:extLst>
      <p:ext uri="{BB962C8B-B14F-4D97-AF65-F5344CB8AC3E}">
        <p14:creationId xmlns:p14="http://schemas.microsoft.com/office/powerpoint/2010/main" val="1650885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EB9E1-C8F1-5DD3-76D0-81465FD8406C}"/>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78AE0A90-D5CF-EBB3-83E6-F89886A936FE}"/>
              </a:ext>
            </a:extLst>
          </p:cNvPr>
          <p:cNvSpPr txBox="1"/>
          <p:nvPr/>
        </p:nvSpPr>
        <p:spPr>
          <a:xfrm>
            <a:off x="1925052" y="1318993"/>
            <a:ext cx="8109285" cy="400110"/>
          </a:xfrm>
          <a:prstGeom prst="rect">
            <a:avLst/>
          </a:prstGeom>
          <a:noFill/>
        </p:spPr>
        <p:txBody>
          <a:bodyPr wrap="square" rtlCol="0">
            <a:spAutoFit/>
          </a:bodyPr>
          <a:lstStyle/>
          <a:p>
            <a:pPr algn="ctr"/>
            <a:r>
              <a:rPr lang="de-DE" sz="2000" b="1" dirty="0">
                <a:solidFill>
                  <a:srgbClr val="202C8F"/>
                </a:solidFill>
              </a:rPr>
              <a:t>Customer Journey pro Reaktionstyp / Kampagne</a:t>
            </a:r>
          </a:p>
        </p:txBody>
      </p:sp>
      <p:graphicFrame>
        <p:nvGraphicFramePr>
          <p:cNvPr id="3" name="Tabelle 2">
            <a:extLst>
              <a:ext uri="{FF2B5EF4-FFF2-40B4-BE49-F238E27FC236}">
                <a16:creationId xmlns:a16="http://schemas.microsoft.com/office/drawing/2014/main" id="{CAC82521-1A91-0ACC-379E-544EBA55E9EA}"/>
              </a:ext>
            </a:extLst>
          </p:cNvPr>
          <p:cNvGraphicFramePr>
            <a:graphicFrameLocks noGrp="1"/>
          </p:cNvGraphicFramePr>
          <p:nvPr>
            <p:extLst>
              <p:ext uri="{D42A27DB-BD31-4B8C-83A1-F6EECF244321}">
                <p14:modId xmlns:p14="http://schemas.microsoft.com/office/powerpoint/2010/main" val="1983345114"/>
              </p:ext>
            </p:extLst>
          </p:nvPr>
        </p:nvGraphicFramePr>
        <p:xfrm>
          <a:off x="2322206" y="2337456"/>
          <a:ext cx="7712131" cy="2951339"/>
        </p:xfrm>
        <a:graphic>
          <a:graphicData uri="http://schemas.openxmlformats.org/drawingml/2006/table">
            <a:tbl>
              <a:tblPr firstRow="1" bandRow="1">
                <a:tableStyleId>{3B4B98B0-60AC-42C2-AFA5-B58CD77FA1E5}</a:tableStyleId>
              </a:tblPr>
              <a:tblGrid>
                <a:gridCol w="1101733">
                  <a:extLst>
                    <a:ext uri="{9D8B030D-6E8A-4147-A177-3AD203B41FA5}">
                      <a16:colId xmlns:a16="http://schemas.microsoft.com/office/drawing/2014/main" val="1866000849"/>
                    </a:ext>
                  </a:extLst>
                </a:gridCol>
                <a:gridCol w="1101733">
                  <a:extLst>
                    <a:ext uri="{9D8B030D-6E8A-4147-A177-3AD203B41FA5}">
                      <a16:colId xmlns:a16="http://schemas.microsoft.com/office/drawing/2014/main" val="2087920748"/>
                    </a:ext>
                  </a:extLst>
                </a:gridCol>
                <a:gridCol w="1101733">
                  <a:extLst>
                    <a:ext uri="{9D8B030D-6E8A-4147-A177-3AD203B41FA5}">
                      <a16:colId xmlns:a16="http://schemas.microsoft.com/office/drawing/2014/main" val="3722839209"/>
                    </a:ext>
                  </a:extLst>
                </a:gridCol>
                <a:gridCol w="1101733">
                  <a:extLst>
                    <a:ext uri="{9D8B030D-6E8A-4147-A177-3AD203B41FA5}">
                      <a16:colId xmlns:a16="http://schemas.microsoft.com/office/drawing/2014/main" val="799979712"/>
                    </a:ext>
                  </a:extLst>
                </a:gridCol>
                <a:gridCol w="1101733">
                  <a:extLst>
                    <a:ext uri="{9D8B030D-6E8A-4147-A177-3AD203B41FA5}">
                      <a16:colId xmlns:a16="http://schemas.microsoft.com/office/drawing/2014/main" val="3835782600"/>
                    </a:ext>
                  </a:extLst>
                </a:gridCol>
                <a:gridCol w="1101733">
                  <a:extLst>
                    <a:ext uri="{9D8B030D-6E8A-4147-A177-3AD203B41FA5}">
                      <a16:colId xmlns:a16="http://schemas.microsoft.com/office/drawing/2014/main" val="2363760141"/>
                    </a:ext>
                  </a:extLst>
                </a:gridCol>
                <a:gridCol w="1101733">
                  <a:extLst>
                    <a:ext uri="{9D8B030D-6E8A-4147-A177-3AD203B41FA5}">
                      <a16:colId xmlns:a16="http://schemas.microsoft.com/office/drawing/2014/main" val="899820312"/>
                    </a:ext>
                  </a:extLst>
                </a:gridCol>
              </a:tblGrid>
              <a:tr h="797905">
                <a:tc>
                  <a:txBody>
                    <a:bodyPr/>
                    <a:lstStyle/>
                    <a:p>
                      <a:pPr>
                        <a:buNone/>
                      </a:pPr>
                      <a:r>
                        <a:rPr lang="de-DE" sz="1000" b="1" dirty="0"/>
                        <a:t>Reaktionstyp</a:t>
                      </a:r>
                      <a:endParaRPr lang="de-DE" sz="1000" dirty="0"/>
                    </a:p>
                  </a:txBody>
                  <a:tcPr anchor="ctr"/>
                </a:tc>
                <a:tc>
                  <a:txBody>
                    <a:bodyPr/>
                    <a:lstStyle/>
                    <a:p>
                      <a:pPr>
                        <a:buNone/>
                      </a:pPr>
                      <a:r>
                        <a:rPr lang="de-DE" sz="1000" b="1" dirty="0"/>
                        <a:t>Alter</a:t>
                      </a:r>
                      <a:endParaRPr lang="de-DE" sz="1000" dirty="0"/>
                    </a:p>
                  </a:txBody>
                  <a:tcPr anchor="ctr"/>
                </a:tc>
                <a:tc>
                  <a:txBody>
                    <a:bodyPr/>
                    <a:lstStyle/>
                    <a:p>
                      <a:pPr>
                        <a:buNone/>
                      </a:pPr>
                      <a:r>
                        <a:rPr lang="de-DE" sz="1000" b="1"/>
                        <a:t>Einkommen</a:t>
                      </a:r>
                      <a:endParaRPr lang="de-DE" sz="1000"/>
                    </a:p>
                  </a:txBody>
                  <a:tcPr anchor="ctr"/>
                </a:tc>
                <a:tc>
                  <a:txBody>
                    <a:bodyPr/>
                    <a:lstStyle/>
                    <a:p>
                      <a:pPr>
                        <a:buNone/>
                      </a:pPr>
                      <a:r>
                        <a:rPr lang="de-DE" sz="1000" b="1"/>
                        <a:t>Kundendauer</a:t>
                      </a:r>
                      <a:endParaRPr lang="de-DE" sz="1000"/>
                    </a:p>
                  </a:txBody>
                  <a:tcPr anchor="ctr"/>
                </a:tc>
                <a:tc>
                  <a:txBody>
                    <a:bodyPr/>
                    <a:lstStyle/>
                    <a:p>
                      <a:pPr>
                        <a:buNone/>
                      </a:pPr>
                      <a:r>
                        <a:rPr lang="de-DE" sz="1000" b="1" dirty="0"/>
                        <a:t>Kaufkanal – überdurchschnittlich</a:t>
                      </a:r>
                      <a:endParaRPr lang="de-DE" sz="1000" dirty="0"/>
                    </a:p>
                  </a:txBody>
                  <a:tcPr anchor="ctr"/>
                </a:tc>
                <a:tc>
                  <a:txBody>
                    <a:bodyPr/>
                    <a:lstStyle/>
                    <a:p>
                      <a:pPr>
                        <a:buNone/>
                      </a:pPr>
                      <a:r>
                        <a:rPr lang="de-DE" sz="1000" b="1" dirty="0"/>
                        <a:t>Kampagnen mit überdurchschnittlicher Reaktion</a:t>
                      </a:r>
                      <a:endParaRPr lang="de-DE" sz="1000" dirty="0"/>
                    </a:p>
                  </a:txBody>
                  <a:tcPr anchor="ctr"/>
                </a:tc>
                <a:tc>
                  <a:txBody>
                    <a:bodyPr/>
                    <a:lstStyle/>
                    <a:p>
                      <a:pPr>
                        <a:buNone/>
                      </a:pPr>
                      <a:r>
                        <a:rPr lang="de-DE" sz="1000" dirty="0"/>
                        <a:t>Cluster</a:t>
                      </a:r>
                    </a:p>
                  </a:txBody>
                  <a:tcPr anchor="ctr"/>
                </a:tc>
                <a:extLst>
                  <a:ext uri="{0D108BD9-81ED-4DB2-BD59-A6C34878D82A}">
                    <a16:rowId xmlns:a16="http://schemas.microsoft.com/office/drawing/2014/main" val="215794790"/>
                  </a:ext>
                </a:extLst>
              </a:tr>
              <a:tr h="512939">
                <a:tc>
                  <a:txBody>
                    <a:bodyPr/>
                    <a:lstStyle/>
                    <a:p>
                      <a:pPr>
                        <a:buNone/>
                      </a:pPr>
                      <a:r>
                        <a:rPr lang="de-DE" sz="1000" b="1"/>
                        <a:t>Nie-Reagierer</a:t>
                      </a:r>
                      <a:endParaRPr lang="de-DE" sz="1000"/>
                    </a:p>
                  </a:txBody>
                  <a:tcPr anchor="ctr"/>
                </a:tc>
                <a:tc>
                  <a:txBody>
                    <a:bodyPr/>
                    <a:lstStyle/>
                    <a:p>
                      <a:pPr>
                        <a:buNone/>
                      </a:pPr>
                      <a:r>
                        <a:rPr lang="de-DE" sz="1000"/>
                        <a:t>höher als Ø</a:t>
                      </a:r>
                    </a:p>
                  </a:txBody>
                  <a:tcPr anchor="ctr"/>
                </a:tc>
                <a:tc>
                  <a:txBody>
                    <a:bodyPr/>
                    <a:lstStyle/>
                    <a:p>
                      <a:pPr>
                        <a:buNone/>
                      </a:pPr>
                      <a:r>
                        <a:rPr lang="de-DE" sz="1000" dirty="0"/>
                        <a:t>unter Ø</a:t>
                      </a:r>
                    </a:p>
                  </a:txBody>
                  <a:tcPr anchor="ctr"/>
                </a:tc>
                <a:tc>
                  <a:txBody>
                    <a:bodyPr/>
                    <a:lstStyle/>
                    <a:p>
                      <a:pPr>
                        <a:buNone/>
                      </a:pPr>
                      <a:r>
                        <a:rPr lang="de-DE" sz="1000"/>
                        <a:t>mittel</a:t>
                      </a:r>
                    </a:p>
                  </a:txBody>
                  <a:tcPr anchor="ctr"/>
                </a:tc>
                <a:tc>
                  <a:txBody>
                    <a:bodyPr/>
                    <a:lstStyle/>
                    <a:p>
                      <a:pPr>
                        <a:buNone/>
                      </a:pPr>
                      <a:r>
                        <a:rPr lang="de-DE" sz="1000" dirty="0"/>
                        <a:t>-</a:t>
                      </a:r>
                    </a:p>
                  </a:txBody>
                  <a:tcPr anchor="ctr"/>
                </a:tc>
                <a:tc>
                  <a:txBody>
                    <a:bodyPr/>
                    <a:lstStyle/>
                    <a:p>
                      <a:pPr>
                        <a:buNone/>
                      </a:pPr>
                      <a:r>
                        <a:rPr lang="de-DE" sz="1000"/>
                        <a:t>keine Kampagne signifikant</a:t>
                      </a:r>
                    </a:p>
                  </a:txBody>
                  <a:tcPr anchor="ctr"/>
                </a:tc>
                <a:tc>
                  <a:txBody>
                    <a:bodyPr/>
                    <a:lstStyle/>
                    <a:p>
                      <a:pPr>
                        <a:buNone/>
                      </a:pPr>
                      <a:r>
                        <a:rPr lang="de-DE" sz="1000" dirty="0"/>
                        <a:t>-</a:t>
                      </a:r>
                    </a:p>
                  </a:txBody>
                  <a:tcPr anchor="ctr"/>
                </a:tc>
                <a:extLst>
                  <a:ext uri="{0D108BD9-81ED-4DB2-BD59-A6C34878D82A}">
                    <a16:rowId xmlns:a16="http://schemas.microsoft.com/office/drawing/2014/main" val="266807162"/>
                  </a:ext>
                </a:extLst>
              </a:tr>
              <a:tr h="370456">
                <a:tc>
                  <a:txBody>
                    <a:bodyPr/>
                    <a:lstStyle/>
                    <a:p>
                      <a:pPr>
                        <a:buNone/>
                      </a:pPr>
                      <a:r>
                        <a:rPr lang="de-DE" sz="1000" b="1" dirty="0"/>
                        <a:t>Früh-Reagierer</a:t>
                      </a:r>
                      <a:endParaRPr lang="de-DE" sz="1000" dirty="0"/>
                    </a:p>
                  </a:txBody>
                  <a:tcPr anchor="ctr"/>
                </a:tc>
                <a:tc>
                  <a:txBody>
                    <a:bodyPr/>
                    <a:lstStyle/>
                    <a:p>
                      <a:pPr>
                        <a:buNone/>
                      </a:pPr>
                      <a:r>
                        <a:rPr lang="de-DE" sz="1000"/>
                        <a:t>jünger–mittel</a:t>
                      </a:r>
                    </a:p>
                  </a:txBody>
                  <a:tcPr anchor="ctr"/>
                </a:tc>
                <a:tc>
                  <a:txBody>
                    <a:bodyPr/>
                    <a:lstStyle/>
                    <a:p>
                      <a:pPr>
                        <a:buNone/>
                      </a:pPr>
                      <a:r>
                        <a:rPr lang="de-DE" sz="1000" b="1" dirty="0"/>
                        <a:t>hoch</a:t>
                      </a:r>
                      <a:endParaRPr lang="de-DE" sz="1000" dirty="0"/>
                    </a:p>
                  </a:txBody>
                  <a:tcPr anchor="ctr"/>
                </a:tc>
                <a:tc>
                  <a:txBody>
                    <a:bodyPr/>
                    <a:lstStyle/>
                    <a:p>
                      <a:pPr>
                        <a:buNone/>
                      </a:pPr>
                      <a:r>
                        <a:rPr lang="de-DE" sz="1000"/>
                        <a:t>kurz–mittel</a:t>
                      </a:r>
                    </a:p>
                  </a:txBody>
                  <a:tcPr anchor="ctr"/>
                </a:tc>
                <a:tc>
                  <a:txBody>
                    <a:bodyPr/>
                    <a:lstStyle/>
                    <a:p>
                      <a:pPr>
                        <a:buNone/>
                      </a:pPr>
                      <a:r>
                        <a:rPr lang="de-DE" sz="1000" b="1"/>
                        <a:t>Webkäufe</a:t>
                      </a:r>
                      <a:endParaRPr lang="de-DE" sz="1000"/>
                    </a:p>
                  </a:txBody>
                  <a:tcPr anchor="ctr"/>
                </a:tc>
                <a:tc>
                  <a:txBody>
                    <a:bodyPr/>
                    <a:lstStyle/>
                    <a:p>
                      <a:pPr>
                        <a:buNone/>
                      </a:pPr>
                      <a:r>
                        <a:rPr lang="de-DE" sz="1000" dirty="0"/>
                        <a:t>Kampagne 1, Kampagne 4</a:t>
                      </a:r>
                    </a:p>
                  </a:txBody>
                  <a:tcPr anchor="ctr"/>
                </a:tc>
                <a:tc>
                  <a:txBody>
                    <a:bodyPr/>
                    <a:lstStyle/>
                    <a:p>
                      <a:pPr>
                        <a:buNone/>
                      </a:pPr>
                      <a:r>
                        <a:rPr lang="de-DE" sz="800" b="0" i="0" u="none" strike="noStrike" kern="1200" dirty="0">
                          <a:solidFill>
                            <a:schemeClr val="tx1"/>
                          </a:solidFill>
                          <a:effectLst/>
                          <a:latin typeface="+mn-lt"/>
                          <a:ea typeface="+mn-ea"/>
                          <a:cs typeface="+mn-cs"/>
                        </a:rPr>
                        <a:t>Premium-orientiert </a:t>
                      </a:r>
                    </a:p>
                    <a:p>
                      <a:pPr>
                        <a:buNone/>
                      </a:pPr>
                      <a:r>
                        <a:rPr lang="de-DE" sz="800" b="0" i="0" u="none" strike="noStrike" kern="1200" dirty="0">
                          <a:solidFill>
                            <a:schemeClr val="tx1"/>
                          </a:solidFill>
                          <a:effectLst/>
                          <a:latin typeface="+mn-lt"/>
                          <a:ea typeface="+mn-ea"/>
                          <a:cs typeface="+mn-cs"/>
                        </a:rPr>
                        <a:t>Loyalitäts-orientiert</a:t>
                      </a:r>
                      <a:endParaRPr lang="de-DE" sz="1000" dirty="0"/>
                    </a:p>
                  </a:txBody>
                  <a:tcPr anchor="ctr"/>
                </a:tc>
                <a:extLst>
                  <a:ext uri="{0D108BD9-81ED-4DB2-BD59-A6C34878D82A}">
                    <a16:rowId xmlns:a16="http://schemas.microsoft.com/office/drawing/2014/main" val="3701981887"/>
                  </a:ext>
                </a:extLst>
              </a:tr>
              <a:tr h="370456">
                <a:tc>
                  <a:txBody>
                    <a:bodyPr/>
                    <a:lstStyle/>
                    <a:p>
                      <a:pPr>
                        <a:buNone/>
                      </a:pPr>
                      <a:r>
                        <a:rPr lang="de-DE" sz="1000" b="1"/>
                        <a:t>Spät-Reagierer</a:t>
                      </a:r>
                      <a:endParaRPr lang="de-DE" sz="1000"/>
                    </a:p>
                  </a:txBody>
                  <a:tcPr anchor="ctr"/>
                </a:tc>
                <a:tc>
                  <a:txBody>
                    <a:bodyPr/>
                    <a:lstStyle/>
                    <a:p>
                      <a:pPr>
                        <a:buNone/>
                      </a:pPr>
                      <a:r>
                        <a:rPr lang="de-DE" sz="1000" dirty="0"/>
                        <a:t>mittel</a:t>
                      </a:r>
                    </a:p>
                  </a:txBody>
                  <a:tcPr anchor="ctr"/>
                </a:tc>
                <a:tc>
                  <a:txBody>
                    <a:bodyPr/>
                    <a:lstStyle/>
                    <a:p>
                      <a:pPr>
                        <a:buNone/>
                      </a:pPr>
                      <a:r>
                        <a:rPr lang="de-DE" sz="1000"/>
                        <a:t>mittel</a:t>
                      </a:r>
                    </a:p>
                  </a:txBody>
                  <a:tcPr anchor="ctr"/>
                </a:tc>
                <a:tc>
                  <a:txBody>
                    <a:bodyPr/>
                    <a:lstStyle/>
                    <a:p>
                      <a:pPr>
                        <a:buNone/>
                      </a:pPr>
                      <a:r>
                        <a:rPr lang="de-DE" sz="1000" b="1" dirty="0"/>
                        <a:t>lang</a:t>
                      </a:r>
                      <a:endParaRPr lang="de-DE" sz="1000" dirty="0"/>
                    </a:p>
                  </a:txBody>
                  <a:tcPr anchor="ctr"/>
                </a:tc>
                <a:tc>
                  <a:txBody>
                    <a:bodyPr/>
                    <a:lstStyle/>
                    <a:p>
                      <a:pPr>
                        <a:buNone/>
                      </a:pPr>
                      <a:r>
                        <a:rPr lang="de-DE" sz="1000" b="1"/>
                        <a:t>Katalogkäufe</a:t>
                      </a:r>
                      <a:r>
                        <a:rPr lang="de-DE" sz="1000"/>
                        <a:t>, stationär</a:t>
                      </a:r>
                    </a:p>
                  </a:txBody>
                  <a:tcPr anchor="ctr"/>
                </a:tc>
                <a:tc>
                  <a:txBody>
                    <a:bodyPr/>
                    <a:lstStyle/>
                    <a:p>
                      <a:pPr>
                        <a:buNone/>
                      </a:pPr>
                      <a:r>
                        <a:rPr lang="de-DE" sz="1000" dirty="0"/>
                        <a:t>Kampagne 5</a:t>
                      </a:r>
                    </a:p>
                  </a:txBody>
                  <a:tcPr anchor="ctr"/>
                </a:tc>
                <a:tc>
                  <a:txBody>
                    <a:bodyPr/>
                    <a:lstStyle/>
                    <a:p>
                      <a:pPr>
                        <a:buNone/>
                      </a:pPr>
                      <a:r>
                        <a:rPr lang="de-DE" sz="800" b="0" i="0" u="none" strike="noStrike" kern="1200" dirty="0">
                          <a:solidFill>
                            <a:schemeClr val="tx1"/>
                          </a:solidFill>
                          <a:effectLst/>
                          <a:latin typeface="+mn-lt"/>
                          <a:ea typeface="+mn-ea"/>
                          <a:cs typeface="+mn-cs"/>
                        </a:rPr>
                        <a:t>Premium-orientiert</a:t>
                      </a:r>
                      <a:endParaRPr lang="de-DE" sz="1000" dirty="0"/>
                    </a:p>
                  </a:txBody>
                  <a:tcPr anchor="ctr"/>
                </a:tc>
                <a:extLst>
                  <a:ext uri="{0D108BD9-81ED-4DB2-BD59-A6C34878D82A}">
                    <a16:rowId xmlns:a16="http://schemas.microsoft.com/office/drawing/2014/main" val="1571705782"/>
                  </a:ext>
                </a:extLst>
              </a:tr>
              <a:tr h="370456">
                <a:tc>
                  <a:txBody>
                    <a:bodyPr/>
                    <a:lstStyle/>
                    <a:p>
                      <a:pPr>
                        <a:buNone/>
                      </a:pPr>
                      <a:r>
                        <a:rPr lang="de-DE" sz="1000" b="1"/>
                        <a:t>Gelegenheits-Reagierer</a:t>
                      </a:r>
                      <a:endParaRPr lang="de-DE" sz="1000"/>
                    </a:p>
                  </a:txBody>
                  <a:tcPr anchor="ctr"/>
                </a:tc>
                <a:tc>
                  <a:txBody>
                    <a:bodyPr/>
                    <a:lstStyle/>
                    <a:p>
                      <a:pPr>
                        <a:buNone/>
                      </a:pPr>
                      <a:r>
                        <a:rPr lang="de-DE" sz="1000" dirty="0"/>
                        <a:t>mittel</a:t>
                      </a:r>
                    </a:p>
                  </a:txBody>
                  <a:tcPr anchor="ctr"/>
                </a:tc>
                <a:tc>
                  <a:txBody>
                    <a:bodyPr/>
                    <a:lstStyle/>
                    <a:p>
                      <a:pPr>
                        <a:buNone/>
                      </a:pPr>
                      <a:r>
                        <a:rPr lang="de-DE" sz="1000" dirty="0"/>
                        <a:t>mittel</a:t>
                      </a:r>
                    </a:p>
                  </a:txBody>
                  <a:tcPr anchor="ctr"/>
                </a:tc>
                <a:tc>
                  <a:txBody>
                    <a:bodyPr/>
                    <a:lstStyle/>
                    <a:p>
                      <a:pPr>
                        <a:buNone/>
                      </a:pPr>
                      <a:r>
                        <a:rPr lang="de-DE" sz="1000"/>
                        <a:t>mittel</a:t>
                      </a:r>
                    </a:p>
                  </a:txBody>
                  <a:tcPr anchor="ctr"/>
                </a:tc>
                <a:tc>
                  <a:txBody>
                    <a:bodyPr/>
                    <a:lstStyle/>
                    <a:p>
                      <a:pPr>
                        <a:buNone/>
                      </a:pPr>
                      <a:r>
                        <a:rPr lang="de-DE" sz="1000" b="1" dirty="0"/>
                        <a:t>Omnichannel</a:t>
                      </a:r>
                      <a:endParaRPr lang="de-DE" sz="1000" dirty="0"/>
                    </a:p>
                  </a:txBody>
                  <a:tcPr anchor="ctr"/>
                </a:tc>
                <a:tc>
                  <a:txBody>
                    <a:bodyPr/>
                    <a:lstStyle/>
                    <a:p>
                      <a:pPr>
                        <a:buNone/>
                      </a:pPr>
                      <a:r>
                        <a:rPr lang="de-DE" sz="1000"/>
                        <a:t>Kampagne 2</a:t>
                      </a:r>
                    </a:p>
                  </a:txBody>
                  <a:tcPr anchor="ctr"/>
                </a:tc>
                <a:tc>
                  <a:txBody>
                    <a:bodyPr/>
                    <a:lstStyle/>
                    <a:p>
                      <a:pPr>
                        <a:buNone/>
                      </a:pPr>
                      <a:r>
                        <a:rPr lang="de-DE" sz="800" b="0" i="0" u="none" strike="noStrike" kern="1200" dirty="0">
                          <a:solidFill>
                            <a:schemeClr val="tx1"/>
                          </a:solidFill>
                          <a:effectLst/>
                          <a:latin typeface="+mn-lt"/>
                          <a:ea typeface="+mn-ea"/>
                          <a:cs typeface="+mn-cs"/>
                        </a:rPr>
                        <a:t>Premium-orientiert</a:t>
                      </a:r>
                      <a:endParaRPr lang="de-DE" sz="1000" dirty="0"/>
                    </a:p>
                  </a:txBody>
                  <a:tcPr anchor="ctr"/>
                </a:tc>
                <a:extLst>
                  <a:ext uri="{0D108BD9-81ED-4DB2-BD59-A6C34878D82A}">
                    <a16:rowId xmlns:a16="http://schemas.microsoft.com/office/drawing/2014/main" val="2799214094"/>
                  </a:ext>
                </a:extLst>
              </a:tr>
              <a:tr h="370456">
                <a:tc>
                  <a:txBody>
                    <a:bodyPr/>
                    <a:lstStyle/>
                    <a:p>
                      <a:pPr>
                        <a:buNone/>
                      </a:pPr>
                      <a:r>
                        <a:rPr lang="de-DE" sz="1000" b="1"/>
                        <a:t>Mehrfach-Reagierer</a:t>
                      </a:r>
                      <a:endParaRPr lang="de-DE" sz="1000"/>
                    </a:p>
                  </a:txBody>
                  <a:tcPr anchor="ctr"/>
                </a:tc>
                <a:tc>
                  <a:txBody>
                    <a:bodyPr/>
                    <a:lstStyle/>
                    <a:p>
                      <a:pPr>
                        <a:buNone/>
                      </a:pPr>
                      <a:r>
                        <a:rPr lang="de-DE" sz="1000"/>
                        <a:t>mittel</a:t>
                      </a:r>
                    </a:p>
                  </a:txBody>
                  <a:tcPr anchor="ctr"/>
                </a:tc>
                <a:tc>
                  <a:txBody>
                    <a:bodyPr/>
                    <a:lstStyle/>
                    <a:p>
                      <a:pPr>
                        <a:buNone/>
                      </a:pPr>
                      <a:r>
                        <a:rPr lang="de-DE" sz="1000" b="1"/>
                        <a:t>hoch</a:t>
                      </a:r>
                      <a:endParaRPr lang="de-DE" sz="1000"/>
                    </a:p>
                  </a:txBody>
                  <a:tcPr anchor="ctr"/>
                </a:tc>
                <a:tc>
                  <a:txBody>
                    <a:bodyPr/>
                    <a:lstStyle/>
                    <a:p>
                      <a:pPr>
                        <a:buNone/>
                      </a:pPr>
                      <a:r>
                        <a:rPr lang="de-DE" sz="1000" b="1"/>
                        <a:t>lang</a:t>
                      </a:r>
                      <a:endParaRPr lang="de-DE" sz="1000"/>
                    </a:p>
                  </a:txBody>
                  <a:tcPr anchor="ctr"/>
                </a:tc>
                <a:tc>
                  <a:txBody>
                    <a:bodyPr/>
                    <a:lstStyle/>
                    <a:p>
                      <a:pPr>
                        <a:buNone/>
                      </a:pPr>
                      <a:r>
                        <a:rPr lang="de-DE" sz="1000"/>
                        <a:t>Web + Katalog</a:t>
                      </a:r>
                    </a:p>
                  </a:txBody>
                  <a:tcPr anchor="ctr"/>
                </a:tc>
                <a:tc>
                  <a:txBody>
                    <a:bodyPr/>
                    <a:lstStyle/>
                    <a:p>
                      <a:pPr>
                        <a:buNone/>
                      </a:pPr>
                      <a:r>
                        <a:rPr lang="de-DE" sz="1000" dirty="0"/>
                        <a:t>Kampagne 3, Kampagne 6</a:t>
                      </a:r>
                    </a:p>
                  </a:txBody>
                  <a:tcPr anchor="ctr"/>
                </a:tc>
                <a:tc>
                  <a:txBody>
                    <a:bodyPr/>
                    <a:lstStyle/>
                    <a:p>
                      <a:pPr>
                        <a:buNone/>
                      </a:pPr>
                      <a:r>
                        <a:rPr lang="de-DE" sz="800" b="0" i="0" u="none" strike="noStrike" kern="1200" dirty="0">
                          <a:solidFill>
                            <a:schemeClr val="tx1"/>
                          </a:solidFill>
                          <a:effectLst/>
                          <a:latin typeface="+mn-lt"/>
                          <a:ea typeface="+mn-ea"/>
                          <a:cs typeface="+mn-cs"/>
                        </a:rPr>
                        <a:t>Rabatt-orientiert</a:t>
                      </a:r>
                      <a:endParaRPr lang="de-DE" sz="1000" dirty="0"/>
                    </a:p>
                  </a:txBody>
                  <a:tcPr anchor="ctr"/>
                </a:tc>
                <a:extLst>
                  <a:ext uri="{0D108BD9-81ED-4DB2-BD59-A6C34878D82A}">
                    <a16:rowId xmlns:a16="http://schemas.microsoft.com/office/drawing/2014/main" val="3922880388"/>
                  </a:ext>
                </a:extLst>
              </a:tr>
            </a:tbl>
          </a:graphicData>
        </a:graphic>
      </p:graphicFrame>
    </p:spTree>
    <p:extLst>
      <p:ext uri="{BB962C8B-B14F-4D97-AF65-F5344CB8AC3E}">
        <p14:creationId xmlns:p14="http://schemas.microsoft.com/office/powerpoint/2010/main" val="282239334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B5D82-CFFD-51C6-88C5-A8F3BF38995C}"/>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040778CA-F033-DB57-178D-89C643B38685}"/>
              </a:ext>
            </a:extLst>
          </p:cNvPr>
          <p:cNvSpPr txBox="1"/>
          <p:nvPr/>
        </p:nvSpPr>
        <p:spPr>
          <a:xfrm>
            <a:off x="1925052" y="1318993"/>
            <a:ext cx="8109285" cy="400110"/>
          </a:xfrm>
          <a:prstGeom prst="rect">
            <a:avLst/>
          </a:prstGeom>
          <a:noFill/>
        </p:spPr>
        <p:txBody>
          <a:bodyPr wrap="square" rtlCol="0">
            <a:spAutoFit/>
          </a:bodyPr>
          <a:lstStyle/>
          <a:p>
            <a:pPr algn="ctr"/>
            <a:r>
              <a:rPr lang="de-DE" sz="2000" b="1" dirty="0">
                <a:solidFill>
                  <a:srgbClr val="202C8F"/>
                </a:solidFill>
              </a:rPr>
              <a:t>Markov-Ketten (Reaktionstyp / Kampagnencluster)</a:t>
            </a:r>
          </a:p>
        </p:txBody>
      </p:sp>
      <p:pic>
        <p:nvPicPr>
          <p:cNvPr id="4" name="Grafik 3" descr="Ein Bild, das Electric Blue (Farbe), Diagramm, Reihe, Screenshot enthält.&#10;&#10;KI-generierte Inhalte können fehlerhaft sein.">
            <a:extLst>
              <a:ext uri="{FF2B5EF4-FFF2-40B4-BE49-F238E27FC236}">
                <a16:creationId xmlns:a16="http://schemas.microsoft.com/office/drawing/2014/main" id="{4D257D11-D03D-91E3-A5B7-169B3C48D75C}"/>
              </a:ext>
            </a:extLst>
          </p:cNvPr>
          <p:cNvPicPr>
            <a:picLocks noChangeAspect="1"/>
          </p:cNvPicPr>
          <p:nvPr/>
        </p:nvPicPr>
        <p:blipFill>
          <a:blip r:embed="rId3"/>
          <a:stretch>
            <a:fillRect/>
          </a:stretch>
        </p:blipFill>
        <p:spPr>
          <a:xfrm>
            <a:off x="1503948" y="1986406"/>
            <a:ext cx="9785684" cy="1943327"/>
          </a:xfrm>
          <a:prstGeom prst="rect">
            <a:avLst/>
          </a:prstGeom>
        </p:spPr>
      </p:pic>
      <p:pic>
        <p:nvPicPr>
          <p:cNvPr id="7" name="Grafik 6" descr="Ein Bild, das Text, Diagramm, Schrift, Zahl enthält.&#10;&#10;KI-generierte Inhalte können fehlerhaft sein.">
            <a:extLst>
              <a:ext uri="{FF2B5EF4-FFF2-40B4-BE49-F238E27FC236}">
                <a16:creationId xmlns:a16="http://schemas.microsoft.com/office/drawing/2014/main" id="{57914BEA-94E3-C365-7681-0741824ADAFA}"/>
              </a:ext>
            </a:extLst>
          </p:cNvPr>
          <p:cNvPicPr>
            <a:picLocks noChangeAspect="1"/>
          </p:cNvPicPr>
          <p:nvPr/>
        </p:nvPicPr>
        <p:blipFill>
          <a:blip r:embed="rId4"/>
          <a:stretch>
            <a:fillRect/>
          </a:stretch>
        </p:blipFill>
        <p:spPr>
          <a:xfrm>
            <a:off x="3056021" y="4249670"/>
            <a:ext cx="6339890" cy="2111510"/>
          </a:xfrm>
          <a:prstGeom prst="rect">
            <a:avLst/>
          </a:prstGeom>
        </p:spPr>
      </p:pic>
    </p:spTree>
    <p:extLst>
      <p:ext uri="{BB962C8B-B14F-4D97-AF65-F5344CB8AC3E}">
        <p14:creationId xmlns:p14="http://schemas.microsoft.com/office/powerpoint/2010/main" val="265146260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8E8F9-858C-E58E-A78A-ACD6A8481E1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2A09576-032B-B99E-0A36-4B8FA60382D7}"/>
              </a:ext>
            </a:extLst>
          </p:cNvPr>
          <p:cNvSpPr>
            <a:spLocks noGrp="1"/>
          </p:cNvSpPr>
          <p:nvPr>
            <p:ph type="title"/>
          </p:nvPr>
        </p:nvSpPr>
        <p:spPr>
          <a:xfrm>
            <a:off x="0" y="3224463"/>
            <a:ext cx="8927432" cy="1222385"/>
          </a:xfrm>
        </p:spPr>
        <p:txBody>
          <a:bodyPr rtlCol="0"/>
          <a:lstStyle>
            <a:defPPr>
              <a:defRPr lang="de-DE"/>
            </a:defPPr>
          </a:lstStyle>
          <a:p>
            <a:pPr marL="342900" indent="-342900" algn="ctr"/>
            <a:r>
              <a:rPr lang="de-DE" sz="2000" dirty="0">
                <a:latin typeface="+mn-lt"/>
              </a:rPr>
              <a:t>Modellvergleich: </a:t>
            </a:r>
            <a:br>
              <a:rPr lang="de-DE" sz="2000" dirty="0">
                <a:latin typeface="+mn-lt"/>
              </a:rPr>
            </a:br>
            <a:br>
              <a:rPr lang="de-DE" sz="2000" dirty="0">
                <a:latin typeface="+mn-lt"/>
              </a:rPr>
            </a:br>
            <a:r>
              <a:rPr lang="de-DE" sz="2000" dirty="0" err="1">
                <a:latin typeface="+mn-lt"/>
              </a:rPr>
              <a:t>LogReg</a:t>
            </a:r>
            <a:r>
              <a:rPr lang="de-DE" sz="2000" dirty="0">
                <a:latin typeface="+mn-lt"/>
              </a:rPr>
              <a:t> vs. Random Forest (High-Response-Kunden) </a:t>
            </a:r>
            <a:br>
              <a:rPr lang="de-DE" sz="2000" dirty="0">
                <a:latin typeface="+mn-lt"/>
              </a:rPr>
            </a:br>
            <a:br>
              <a:rPr lang="de-DE" sz="2000" dirty="0">
                <a:latin typeface="+mn-lt"/>
              </a:rPr>
            </a:br>
            <a:r>
              <a:rPr lang="de-DE" sz="1500" dirty="0">
                <a:latin typeface="+mn-lt"/>
              </a:rPr>
              <a:t>Threshold &amp; Recall Bestimmung</a:t>
            </a:r>
            <a:br>
              <a:rPr lang="de-DE" sz="2000" dirty="0">
                <a:latin typeface="+mn-lt"/>
              </a:rPr>
            </a:br>
            <a:endParaRPr lang="de-DE" sz="2000" dirty="0">
              <a:latin typeface="+mn-lt"/>
            </a:endParaRPr>
          </a:p>
        </p:txBody>
      </p:sp>
    </p:spTree>
    <p:extLst>
      <p:ext uri="{BB962C8B-B14F-4D97-AF65-F5344CB8AC3E}">
        <p14:creationId xmlns:p14="http://schemas.microsoft.com/office/powerpoint/2010/main" val="301803507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1E4EC-E5D5-6385-A898-E04A432B2ED7}"/>
            </a:ext>
          </a:extLst>
        </p:cNvPr>
        <p:cNvGrpSpPr/>
        <p:nvPr/>
      </p:nvGrpSpPr>
      <p:grpSpPr>
        <a:xfrm>
          <a:off x="0" y="0"/>
          <a:ext cx="0" cy="0"/>
          <a:chOff x="0" y="0"/>
          <a:chExt cx="0" cy="0"/>
        </a:xfrm>
      </p:grpSpPr>
      <p:pic>
        <p:nvPicPr>
          <p:cNvPr id="6" name="Grafik 5" descr="Ein Bild, das Text, Diagramm, Reihe, parallel enthält.&#10;&#10;KI-generierte Inhalte können fehlerhaft sein.">
            <a:extLst>
              <a:ext uri="{FF2B5EF4-FFF2-40B4-BE49-F238E27FC236}">
                <a16:creationId xmlns:a16="http://schemas.microsoft.com/office/drawing/2014/main" id="{D69568F1-F4EC-8481-7DEB-A2C55B2C13DF}"/>
              </a:ext>
            </a:extLst>
          </p:cNvPr>
          <p:cNvPicPr>
            <a:picLocks noChangeAspect="1"/>
          </p:cNvPicPr>
          <p:nvPr/>
        </p:nvPicPr>
        <p:blipFill>
          <a:blip r:embed="rId3"/>
          <a:stretch>
            <a:fillRect/>
          </a:stretch>
        </p:blipFill>
        <p:spPr>
          <a:xfrm>
            <a:off x="1190185" y="552774"/>
            <a:ext cx="3205545" cy="2736899"/>
          </a:xfrm>
          <a:prstGeom prst="rect">
            <a:avLst/>
          </a:prstGeom>
        </p:spPr>
      </p:pic>
      <p:pic>
        <p:nvPicPr>
          <p:cNvPr id="7" name="Grafik 6" descr="Ein Bild, das Text, Reihe, Screenshot, Diagramm enthält.&#10;&#10;KI-generierte Inhalte können fehlerhaft sein.">
            <a:extLst>
              <a:ext uri="{FF2B5EF4-FFF2-40B4-BE49-F238E27FC236}">
                <a16:creationId xmlns:a16="http://schemas.microsoft.com/office/drawing/2014/main" id="{08842112-A64A-BEB0-B63C-5796F3FF2B1D}"/>
              </a:ext>
            </a:extLst>
          </p:cNvPr>
          <p:cNvPicPr>
            <a:picLocks noChangeAspect="1"/>
          </p:cNvPicPr>
          <p:nvPr/>
        </p:nvPicPr>
        <p:blipFill>
          <a:blip r:embed="rId4"/>
          <a:stretch>
            <a:fillRect/>
          </a:stretch>
        </p:blipFill>
        <p:spPr>
          <a:xfrm>
            <a:off x="4781322" y="413592"/>
            <a:ext cx="3470312" cy="2876081"/>
          </a:xfrm>
          <a:prstGeom prst="rect">
            <a:avLst/>
          </a:prstGeom>
        </p:spPr>
      </p:pic>
      <p:pic>
        <p:nvPicPr>
          <p:cNvPr id="9" name="Grafik 8" descr="Ein Bild, das Text, Reihe, Diagramm, Zahl enthält.&#10;&#10;KI-generierte Inhalte können fehlerhaft sein.">
            <a:extLst>
              <a:ext uri="{FF2B5EF4-FFF2-40B4-BE49-F238E27FC236}">
                <a16:creationId xmlns:a16="http://schemas.microsoft.com/office/drawing/2014/main" id="{1AA24374-D32D-A349-A25A-CB243642D0BA}"/>
              </a:ext>
            </a:extLst>
          </p:cNvPr>
          <p:cNvPicPr>
            <a:picLocks noChangeAspect="1"/>
          </p:cNvPicPr>
          <p:nvPr/>
        </p:nvPicPr>
        <p:blipFill>
          <a:blip r:embed="rId5"/>
          <a:stretch>
            <a:fillRect/>
          </a:stretch>
        </p:blipFill>
        <p:spPr>
          <a:xfrm>
            <a:off x="3015449" y="3429000"/>
            <a:ext cx="3531745" cy="3015408"/>
          </a:xfrm>
          <a:prstGeom prst="rect">
            <a:avLst/>
          </a:prstGeom>
        </p:spPr>
      </p:pic>
    </p:spTree>
    <p:extLst>
      <p:ext uri="{BB962C8B-B14F-4D97-AF65-F5344CB8AC3E}">
        <p14:creationId xmlns:p14="http://schemas.microsoft.com/office/powerpoint/2010/main" val="1446950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5E8954-9BCB-7FD9-A210-38DC54382D45}"/>
              </a:ext>
            </a:extLst>
          </p:cNvPr>
          <p:cNvSpPr>
            <a:spLocks noGrp="1"/>
          </p:cNvSpPr>
          <p:nvPr>
            <p:ph type="title"/>
          </p:nvPr>
        </p:nvSpPr>
        <p:spPr>
          <a:xfrm>
            <a:off x="3219331" y="515075"/>
            <a:ext cx="6278999" cy="994164"/>
          </a:xfrm>
        </p:spPr>
        <p:txBody>
          <a:bodyPr rtlCol="0"/>
          <a:lstStyle>
            <a:defPPr>
              <a:defRPr lang="de-DE"/>
            </a:defPPr>
          </a:lstStyle>
          <a:p>
            <a:pPr algn="ctr"/>
            <a:r>
              <a:rPr lang="en-US" sz="2000" dirty="0">
                <a:latin typeface="+mn-lt"/>
              </a:rPr>
              <a:t>Feature Importance – Random Forest (High-Response-Kunden - </a:t>
            </a:r>
            <a:r>
              <a:rPr lang="en-US" sz="2000" dirty="0" err="1">
                <a:latin typeface="+mn-lt"/>
              </a:rPr>
              <a:t>Kampagnencluster</a:t>
            </a:r>
            <a:r>
              <a:rPr lang="en-US" sz="2000" dirty="0">
                <a:latin typeface="+mn-lt"/>
              </a:rPr>
              <a:t>)</a:t>
            </a:r>
            <a:endParaRPr lang="de-DE" sz="2000" dirty="0">
              <a:latin typeface="+mn-lt"/>
            </a:endParaRPr>
          </a:p>
        </p:txBody>
      </p:sp>
      <p:pic>
        <p:nvPicPr>
          <p:cNvPr id="4" name="Grafik 3" descr="Ein Bild, das Text, Screenshot, Reihe, Zahl enthält.&#10;&#10;KI-generierte Inhalte können fehlerhaft sein.">
            <a:extLst>
              <a:ext uri="{FF2B5EF4-FFF2-40B4-BE49-F238E27FC236}">
                <a16:creationId xmlns:a16="http://schemas.microsoft.com/office/drawing/2014/main" id="{A66AA5C5-4D38-FA3A-C8AC-76B8DC176A6D}"/>
              </a:ext>
            </a:extLst>
          </p:cNvPr>
          <p:cNvPicPr>
            <a:picLocks noChangeAspect="1"/>
          </p:cNvPicPr>
          <p:nvPr/>
        </p:nvPicPr>
        <p:blipFill>
          <a:blip r:embed="rId3"/>
          <a:stretch>
            <a:fillRect/>
          </a:stretch>
        </p:blipFill>
        <p:spPr>
          <a:xfrm>
            <a:off x="266646" y="2067342"/>
            <a:ext cx="5462125" cy="3865012"/>
          </a:xfrm>
          <a:prstGeom prst="rect">
            <a:avLst/>
          </a:prstGeom>
        </p:spPr>
      </p:pic>
      <p:pic>
        <p:nvPicPr>
          <p:cNvPr id="8" name="Grafik 7" descr="Ein Bild, das Text, Screenshot, Farbigkeit, Diagramm enthält.&#10;&#10;KI-generierte Inhalte können fehlerhaft sein.">
            <a:extLst>
              <a:ext uri="{FF2B5EF4-FFF2-40B4-BE49-F238E27FC236}">
                <a16:creationId xmlns:a16="http://schemas.microsoft.com/office/drawing/2014/main" id="{4DABE223-06C4-2B44-E393-568B8496D7E6}"/>
              </a:ext>
            </a:extLst>
          </p:cNvPr>
          <p:cNvPicPr>
            <a:picLocks noChangeAspect="1"/>
          </p:cNvPicPr>
          <p:nvPr/>
        </p:nvPicPr>
        <p:blipFill>
          <a:blip r:embed="rId4"/>
          <a:stretch>
            <a:fillRect/>
          </a:stretch>
        </p:blipFill>
        <p:spPr>
          <a:xfrm>
            <a:off x="5899832" y="2067342"/>
            <a:ext cx="6121808" cy="3865012"/>
          </a:xfrm>
          <a:prstGeom prst="rect">
            <a:avLst/>
          </a:prstGeom>
        </p:spPr>
      </p:pic>
    </p:spTree>
    <p:extLst>
      <p:ext uri="{BB962C8B-B14F-4D97-AF65-F5344CB8AC3E}">
        <p14:creationId xmlns:p14="http://schemas.microsoft.com/office/powerpoint/2010/main" val="68568106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35DD1-77EC-ED51-15F4-067FECCAF11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926CCDF-198D-CDA0-63B7-3D1CA160B0B8}"/>
              </a:ext>
            </a:extLst>
          </p:cNvPr>
          <p:cNvSpPr>
            <a:spLocks noGrp="1"/>
          </p:cNvSpPr>
          <p:nvPr>
            <p:ph type="title"/>
          </p:nvPr>
        </p:nvSpPr>
        <p:spPr>
          <a:xfrm>
            <a:off x="3136405" y="754298"/>
            <a:ext cx="7965461" cy="994164"/>
          </a:xfrm>
        </p:spPr>
        <p:txBody>
          <a:bodyPr rtlCol="0"/>
          <a:lstStyle>
            <a:defPPr>
              <a:defRPr lang="de-DE"/>
            </a:defPPr>
          </a:lstStyle>
          <a:p>
            <a:pPr algn="ctr"/>
            <a:r>
              <a:rPr lang="de-DE" sz="2000" dirty="0">
                <a:latin typeface="+mn-lt"/>
              </a:rPr>
              <a:t> Executive Summary</a:t>
            </a:r>
          </a:p>
        </p:txBody>
      </p:sp>
      <p:graphicFrame>
        <p:nvGraphicFramePr>
          <p:cNvPr id="4" name="Tabelle 3">
            <a:extLst>
              <a:ext uri="{FF2B5EF4-FFF2-40B4-BE49-F238E27FC236}">
                <a16:creationId xmlns:a16="http://schemas.microsoft.com/office/drawing/2014/main" id="{B71264B4-9B1D-4DC2-719D-AD2BD9B831D4}"/>
              </a:ext>
            </a:extLst>
          </p:cNvPr>
          <p:cNvGraphicFramePr>
            <a:graphicFrameLocks noGrp="1"/>
          </p:cNvGraphicFramePr>
          <p:nvPr>
            <p:extLst>
              <p:ext uri="{D42A27DB-BD31-4B8C-83A1-F6EECF244321}">
                <p14:modId xmlns:p14="http://schemas.microsoft.com/office/powerpoint/2010/main" val="712201125"/>
              </p:ext>
            </p:extLst>
          </p:nvPr>
        </p:nvGraphicFramePr>
        <p:xfrm>
          <a:off x="2880360" y="2358461"/>
          <a:ext cx="8384044" cy="3529330"/>
        </p:xfrm>
        <a:graphic>
          <a:graphicData uri="http://schemas.openxmlformats.org/drawingml/2006/table">
            <a:tbl>
              <a:tblPr firstRow="1" bandRow="1">
                <a:tableStyleId>{3B4B98B0-60AC-42C2-AFA5-B58CD77FA1E5}</a:tableStyleId>
              </a:tblPr>
              <a:tblGrid>
                <a:gridCol w="2096011">
                  <a:extLst>
                    <a:ext uri="{9D8B030D-6E8A-4147-A177-3AD203B41FA5}">
                      <a16:colId xmlns:a16="http://schemas.microsoft.com/office/drawing/2014/main" val="3097920798"/>
                    </a:ext>
                  </a:extLst>
                </a:gridCol>
                <a:gridCol w="2098799">
                  <a:extLst>
                    <a:ext uri="{9D8B030D-6E8A-4147-A177-3AD203B41FA5}">
                      <a16:colId xmlns:a16="http://schemas.microsoft.com/office/drawing/2014/main" val="1079239116"/>
                    </a:ext>
                  </a:extLst>
                </a:gridCol>
                <a:gridCol w="2093223">
                  <a:extLst>
                    <a:ext uri="{9D8B030D-6E8A-4147-A177-3AD203B41FA5}">
                      <a16:colId xmlns:a16="http://schemas.microsoft.com/office/drawing/2014/main" val="685198376"/>
                    </a:ext>
                  </a:extLst>
                </a:gridCol>
                <a:gridCol w="2096011">
                  <a:extLst>
                    <a:ext uri="{9D8B030D-6E8A-4147-A177-3AD203B41FA5}">
                      <a16:colId xmlns:a16="http://schemas.microsoft.com/office/drawing/2014/main" val="2657844834"/>
                    </a:ext>
                  </a:extLst>
                </a:gridCol>
              </a:tblGrid>
              <a:tr h="370840">
                <a:tc>
                  <a:txBody>
                    <a:bodyPr/>
                    <a:lstStyle/>
                    <a:p>
                      <a:pPr algn="l" rtl="0" fontAlgn="t">
                        <a:buNone/>
                      </a:pPr>
                      <a:r>
                        <a:rPr lang="de-DE" sz="1000" b="1" i="0" u="none" strike="noStrike" dirty="0">
                          <a:solidFill>
                            <a:srgbClr val="000000"/>
                          </a:solidFill>
                          <a:effectLst/>
                          <a:latin typeface="Sabon Next LT" panose="02000500000000000000" pitchFamily="2" charset="0"/>
                        </a:rPr>
                        <a:t>Analyseebene</a:t>
                      </a:r>
                    </a:p>
                  </a:txBody>
                  <a:tcPr marL="9525" marR="9525" marT="9525" marB="0"/>
                </a:tc>
                <a:tc>
                  <a:txBody>
                    <a:bodyPr/>
                    <a:lstStyle/>
                    <a:p>
                      <a:pPr algn="l" rtl="0" fontAlgn="t">
                        <a:buNone/>
                      </a:pPr>
                      <a:r>
                        <a:rPr lang="de-DE" sz="1000" b="1" i="0" u="none" strike="noStrike">
                          <a:solidFill>
                            <a:srgbClr val="000000"/>
                          </a:solidFill>
                          <a:effectLst/>
                          <a:latin typeface="Sabon Next LT" panose="02000500000000000000" pitchFamily="2" charset="0"/>
                        </a:rPr>
                        <a:t>Zentrale Erkenntnis</a:t>
                      </a:r>
                    </a:p>
                  </a:txBody>
                  <a:tcPr marL="9525" marR="9525" marT="9525" marB="0"/>
                </a:tc>
                <a:tc>
                  <a:txBody>
                    <a:bodyPr/>
                    <a:lstStyle/>
                    <a:p>
                      <a:pPr algn="l" rtl="0" fontAlgn="t">
                        <a:buNone/>
                      </a:pPr>
                      <a:r>
                        <a:rPr lang="de-DE" sz="1000" b="1" i="0" u="none" strike="noStrike">
                          <a:solidFill>
                            <a:srgbClr val="000000"/>
                          </a:solidFill>
                          <a:effectLst/>
                          <a:latin typeface="Sabon Next LT" panose="02000500000000000000" pitchFamily="2" charset="0"/>
                        </a:rPr>
                        <a:t>Handlungsempfehlung</a:t>
                      </a:r>
                    </a:p>
                  </a:txBody>
                  <a:tcPr marL="9525" marR="9525" marT="9525" marB="0"/>
                </a:tc>
                <a:tc>
                  <a:txBody>
                    <a:bodyPr/>
                    <a:lstStyle/>
                    <a:p>
                      <a:pPr algn="l" rtl="0" fontAlgn="t">
                        <a:buNone/>
                      </a:pPr>
                      <a:r>
                        <a:rPr lang="de-DE" sz="1000" b="1" i="0" u="none" strike="noStrike">
                          <a:solidFill>
                            <a:srgbClr val="000000"/>
                          </a:solidFill>
                          <a:effectLst/>
                          <a:latin typeface="Sabon Next LT" panose="02000500000000000000" pitchFamily="2" charset="0"/>
                        </a:rPr>
                        <a:t>Operativer Nutzen</a:t>
                      </a:r>
                    </a:p>
                  </a:txBody>
                  <a:tcPr marL="9525" marR="9525" marT="9525" marB="0"/>
                </a:tc>
                <a:extLst>
                  <a:ext uri="{0D108BD9-81ED-4DB2-BD59-A6C34878D82A}">
                    <a16:rowId xmlns:a16="http://schemas.microsoft.com/office/drawing/2014/main" val="1658999862"/>
                  </a:ext>
                </a:extLst>
              </a:tr>
              <a:tr h="370840">
                <a:tc>
                  <a:txBody>
                    <a:bodyPr/>
                    <a:lstStyle/>
                    <a:p>
                      <a:pPr algn="l" rtl="0" fontAlgn="t">
                        <a:buNone/>
                      </a:pPr>
                      <a:r>
                        <a:rPr lang="de-DE" sz="1000" b="1" i="0" u="none" strike="noStrike" dirty="0">
                          <a:solidFill>
                            <a:srgbClr val="000000"/>
                          </a:solidFill>
                          <a:effectLst/>
                          <a:latin typeface="Sabon Next LT" panose="02000500000000000000" pitchFamily="2" charset="0"/>
                        </a:rPr>
                        <a:t>Kampagnencluster</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Rabatt aktiviert kurzfristig, Premium stabilisiert, Loyalität bindet</a:t>
                      </a:r>
                    </a:p>
                  </a:txBody>
                  <a:tcPr marL="9525" marR="9525" marT="9525" marB="0"/>
                </a:tc>
                <a:tc>
                  <a:txBody>
                    <a:bodyPr/>
                    <a:lstStyle/>
                    <a:p>
                      <a:pPr algn="l" rtl="0" fontAlgn="t">
                        <a:buNone/>
                      </a:pPr>
                      <a:r>
                        <a:rPr lang="de-DE" sz="1000" b="0" i="0" u="none" strike="noStrike">
                          <a:solidFill>
                            <a:srgbClr val="000000"/>
                          </a:solidFill>
                          <a:effectLst/>
                          <a:latin typeface="Sabon Next LT" panose="02000500000000000000" pitchFamily="2" charset="0"/>
                        </a:rPr>
                        <a:t>Klare Rollentrennung der Kampagnenarten im Kampagnenmix</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Strategische Kampagnenplanung statt Einheitsansprache</a:t>
                      </a:r>
                    </a:p>
                  </a:txBody>
                  <a:tcPr marL="9525" marR="9525" marT="9525" marB="0"/>
                </a:tc>
                <a:extLst>
                  <a:ext uri="{0D108BD9-81ED-4DB2-BD59-A6C34878D82A}">
                    <a16:rowId xmlns:a16="http://schemas.microsoft.com/office/drawing/2014/main" val="245603585"/>
                  </a:ext>
                </a:extLst>
              </a:tr>
              <a:tr h="370840">
                <a:tc>
                  <a:txBody>
                    <a:bodyPr/>
                    <a:lstStyle/>
                    <a:p>
                      <a:pPr algn="l" rtl="0" fontAlgn="t">
                        <a:buNone/>
                      </a:pPr>
                      <a:r>
                        <a:rPr lang="de-DE" sz="1000" b="1" i="0" u="none" strike="noStrike" dirty="0">
                          <a:solidFill>
                            <a:srgbClr val="000000"/>
                          </a:solidFill>
                          <a:effectLst/>
                          <a:latin typeface="Sabon Next LT" panose="02000500000000000000" pitchFamily="2" charset="0"/>
                        </a:rPr>
                        <a:t>High-Response-Modell</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High-Response-Kunden sind selten, aber gut identifizierbar</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Score-basiertes Targeting statt Massenansprache</a:t>
                      </a:r>
                    </a:p>
                  </a:txBody>
                  <a:tcPr marL="9525" marR="9525" marT="9525" marB="0"/>
                </a:tc>
                <a:tc>
                  <a:txBody>
                    <a:bodyPr/>
                    <a:lstStyle/>
                    <a:p>
                      <a:pPr algn="l" rtl="0" fontAlgn="t">
                        <a:buNone/>
                      </a:pPr>
                      <a:r>
                        <a:rPr lang="de-DE" sz="1000" b="0" i="0" u="none" strike="noStrike" dirty="0">
                          <a:solidFill>
                            <a:srgbClr val="000000"/>
                          </a:solidFill>
                          <a:effectLst/>
                          <a:latin typeface="Sabon Next LT" panose="02000500000000000000" pitchFamily="2" charset="0"/>
                        </a:rPr>
                        <a:t>Effizienterer Mitteleinsatz</a:t>
                      </a:r>
                    </a:p>
                  </a:txBody>
                  <a:tcPr marL="9525" marR="9525" marT="9525" marB="0"/>
                </a:tc>
                <a:extLst>
                  <a:ext uri="{0D108BD9-81ED-4DB2-BD59-A6C34878D82A}">
                    <a16:rowId xmlns:a16="http://schemas.microsoft.com/office/drawing/2014/main" val="2311039284"/>
                  </a:ext>
                </a:extLst>
              </a:tr>
              <a:tr h="370840">
                <a:tc>
                  <a:txBody>
                    <a:bodyPr/>
                    <a:lstStyle/>
                    <a:p>
                      <a:pPr algn="l" rtl="0" fontAlgn="t">
                        <a:buNone/>
                      </a:pPr>
                      <a:r>
                        <a:rPr lang="de-DE" sz="1000" b="0" i="0" u="none" strike="noStrike" dirty="0">
                          <a:solidFill>
                            <a:srgbClr val="000000"/>
                          </a:solidFill>
                          <a:effectLst/>
                          <a:latin typeface="Sabon Next LT" panose="02000500000000000000" pitchFamily="2" charset="0"/>
                        </a:rPr>
                        <a:t>Threshold &amp; Recall</a:t>
                      </a:r>
                    </a:p>
                    <a:p>
                      <a:pPr algn="l" rtl="0" fontAlgn="t">
                        <a:buNone/>
                      </a:pPr>
                      <a:r>
                        <a:rPr lang="de-DE" sz="1000" b="1" i="0" u="none" strike="noStrike" dirty="0">
                          <a:solidFill>
                            <a:srgbClr val="000000"/>
                          </a:solidFill>
                          <a:effectLst/>
                          <a:latin typeface="Sabon Next LT" panose="02000500000000000000" pitchFamily="2" charset="0"/>
                        </a:rPr>
                        <a:t>Simulationsrechner</a:t>
                      </a:r>
                    </a:p>
                  </a:txBody>
                  <a:tcPr marL="9525" marR="9525" marT="9525" marB="0"/>
                </a:tc>
                <a:tc>
                  <a:txBody>
                    <a:bodyPr/>
                    <a:lstStyle/>
                    <a:p>
                      <a:pPr algn="l" rtl="0" fontAlgn="t">
                        <a:buNone/>
                      </a:pPr>
                      <a:r>
                        <a:rPr lang="de-DE" sz="1000" b="0" i="0" u="none" strike="noStrike">
                          <a:solidFill>
                            <a:srgbClr val="000000"/>
                          </a:solidFill>
                          <a:effectLst/>
                          <a:latin typeface="Sabon Next LT" panose="02000500000000000000" pitchFamily="2" charset="0"/>
                        </a:rPr>
                        <a:t>Reichweite vs. Präzision ist steuerbar</a:t>
                      </a:r>
                    </a:p>
                  </a:txBody>
                  <a:tcPr marL="9525" marR="9525" marT="9525" marB="0"/>
                </a:tc>
                <a:tc>
                  <a:txBody>
                    <a:bodyPr/>
                    <a:lstStyle/>
                    <a:p>
                      <a:pPr algn="l" rtl="0" fontAlgn="t">
                        <a:buNone/>
                      </a:pPr>
                      <a:r>
                        <a:rPr lang="de-DE" sz="1000" b="0" i="0" u="none" strike="noStrike" dirty="0">
                          <a:solidFill>
                            <a:srgbClr val="000000"/>
                          </a:solidFill>
                          <a:effectLst/>
                          <a:latin typeface="Sabon Next LT" panose="02000500000000000000" pitchFamily="2" charset="0"/>
                        </a:rPr>
                        <a:t>Threshold abhängig vom Budgetziel wählen</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Flexible Budget- und Reichweitensteuerung</a:t>
                      </a:r>
                    </a:p>
                  </a:txBody>
                  <a:tcPr marL="9525" marR="9525" marT="9525" marB="0"/>
                </a:tc>
                <a:extLst>
                  <a:ext uri="{0D108BD9-81ED-4DB2-BD59-A6C34878D82A}">
                    <a16:rowId xmlns:a16="http://schemas.microsoft.com/office/drawing/2014/main" val="1321431062"/>
                  </a:ext>
                </a:extLst>
              </a:tr>
              <a:tr h="370840">
                <a:tc>
                  <a:txBody>
                    <a:bodyPr/>
                    <a:lstStyle/>
                    <a:p>
                      <a:pPr algn="l" rtl="0" fontAlgn="t">
                        <a:buNone/>
                      </a:pPr>
                      <a:r>
                        <a:rPr lang="de-DE" sz="1000" b="1" i="0" u="none" strike="noStrike" dirty="0">
                          <a:solidFill>
                            <a:srgbClr val="000000"/>
                          </a:solidFill>
                          <a:effectLst/>
                          <a:latin typeface="Sabon Next LT" panose="02000500000000000000" pitchFamily="2" charset="0"/>
                        </a:rPr>
                        <a:t>Kaufkanäle</a:t>
                      </a:r>
                    </a:p>
                  </a:txBody>
                  <a:tcPr marL="9525" marR="9525" marT="9525" marB="0"/>
                </a:tc>
                <a:tc>
                  <a:txBody>
                    <a:bodyPr/>
                    <a:lstStyle/>
                    <a:p>
                      <a:pPr algn="l" rtl="0" fontAlgn="t">
                        <a:buNone/>
                      </a:pPr>
                      <a:r>
                        <a:rPr lang="de-DE" sz="1000" b="0" i="0" u="none" strike="noStrike" dirty="0">
                          <a:solidFill>
                            <a:srgbClr val="000000"/>
                          </a:solidFill>
                          <a:effectLst/>
                          <a:latin typeface="Sabon Next LT" panose="02000500000000000000" pitchFamily="2" charset="0"/>
                        </a:rPr>
                        <a:t>Webaktivität ist starker Reaktionsindikator</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Digitale Kanäle priorisieren</a:t>
                      </a:r>
                      <a:r>
                        <a:rPr lang="de-DE" sz="1000" b="0" i="0" u="none" strike="noStrike" dirty="0">
                          <a:solidFill>
                            <a:srgbClr val="000000"/>
                          </a:solidFill>
                          <a:effectLst/>
                          <a:latin typeface="Sabon Next LT" panose="02000500000000000000" pitchFamily="2" charset="0"/>
                        </a:rPr>
                        <a:t>, stationär selektiv einsetzen</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Kostensenkung &amp; bessere Messbarkeit</a:t>
                      </a:r>
                    </a:p>
                  </a:txBody>
                  <a:tcPr marL="9525" marR="9525" marT="9525" marB="0"/>
                </a:tc>
                <a:extLst>
                  <a:ext uri="{0D108BD9-81ED-4DB2-BD59-A6C34878D82A}">
                    <a16:rowId xmlns:a16="http://schemas.microsoft.com/office/drawing/2014/main" val="2260897966"/>
                  </a:ext>
                </a:extLst>
              </a:tr>
              <a:tr h="370840">
                <a:tc>
                  <a:txBody>
                    <a:bodyPr/>
                    <a:lstStyle/>
                    <a:p>
                      <a:pPr algn="l" rtl="0" fontAlgn="t">
                        <a:buNone/>
                      </a:pPr>
                      <a:r>
                        <a:rPr lang="de-DE" sz="1000" b="1" i="0" u="none" strike="noStrike" dirty="0">
                          <a:solidFill>
                            <a:srgbClr val="000000"/>
                          </a:solidFill>
                          <a:effectLst/>
                          <a:latin typeface="Sabon Next LT" panose="02000500000000000000" pitchFamily="2" charset="0"/>
                        </a:rPr>
                        <a:t>Indikator zwischen Kampagne = Verkaufszahlen</a:t>
                      </a:r>
                    </a:p>
                  </a:txBody>
                  <a:tcPr marL="9525" marR="9525" marT="9525" marB="0"/>
                </a:tc>
                <a:tc>
                  <a:txBody>
                    <a:bodyPr/>
                    <a:lstStyle/>
                    <a:p>
                      <a:pPr algn="l" rtl="0" fontAlgn="t">
                        <a:buNone/>
                      </a:pPr>
                      <a:r>
                        <a:rPr lang="de-DE" sz="1000" b="0" i="0" u="none" strike="noStrike" dirty="0">
                          <a:solidFill>
                            <a:srgbClr val="000000"/>
                          </a:solidFill>
                          <a:effectLst/>
                          <a:latin typeface="Sabon Next LT" panose="02000500000000000000" pitchFamily="2" charset="0"/>
                        </a:rPr>
                        <a:t>keinen Indikator vorhanden</a:t>
                      </a:r>
                    </a:p>
                  </a:txBody>
                  <a:tcPr marL="9525" marR="9525" marT="9525" marB="0"/>
                </a:tc>
                <a:tc>
                  <a:txBody>
                    <a:bodyPr/>
                    <a:lstStyle/>
                    <a:p>
                      <a:pPr algn="l" rtl="0" fontAlgn="t">
                        <a:buNone/>
                      </a:pPr>
                      <a:r>
                        <a:rPr lang="de-DE" sz="1000" b="0" i="0" u="none" strike="noStrike" dirty="0">
                          <a:solidFill>
                            <a:srgbClr val="000000"/>
                          </a:solidFill>
                          <a:effectLst/>
                          <a:latin typeface="Sabon Next LT" panose="02000500000000000000" pitchFamily="2" charset="0"/>
                        </a:rPr>
                        <a:t>Einführung von Markern (Promo-Codes) ec.</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Bessere Vorhersagen, gezieltes Marketingmaßnahmen</a:t>
                      </a:r>
                    </a:p>
                  </a:txBody>
                  <a:tcPr marL="9525" marR="9525" marT="9525" marB="0"/>
                </a:tc>
                <a:extLst>
                  <a:ext uri="{0D108BD9-81ED-4DB2-BD59-A6C34878D82A}">
                    <a16:rowId xmlns:a16="http://schemas.microsoft.com/office/drawing/2014/main" val="3478011685"/>
                  </a:ext>
                </a:extLst>
              </a:tr>
              <a:tr h="370840">
                <a:tc>
                  <a:txBody>
                    <a:bodyPr/>
                    <a:lstStyle/>
                    <a:p>
                      <a:pPr algn="l" rtl="0" fontAlgn="t">
                        <a:buNone/>
                      </a:pPr>
                      <a:r>
                        <a:rPr lang="de-DE" sz="1000" b="0" i="0" u="none" strike="noStrike" dirty="0">
                          <a:solidFill>
                            <a:srgbClr val="000000"/>
                          </a:solidFill>
                          <a:effectLst/>
                          <a:latin typeface="Sabon Next LT" panose="02000500000000000000" pitchFamily="2" charset="0"/>
                        </a:rPr>
                        <a:t>Feature </a:t>
                      </a:r>
                      <a:r>
                        <a:rPr lang="de-DE" sz="1000" b="0" i="0" u="none" strike="noStrike" dirty="0" err="1">
                          <a:solidFill>
                            <a:srgbClr val="000000"/>
                          </a:solidFill>
                          <a:effectLst/>
                          <a:latin typeface="Sabon Next LT" panose="02000500000000000000" pitchFamily="2" charset="0"/>
                        </a:rPr>
                        <a:t>Insights</a:t>
                      </a:r>
                      <a:endParaRPr lang="de-DE" sz="1000" b="0" i="0" u="none" strike="noStrike" dirty="0">
                        <a:solidFill>
                          <a:srgbClr val="000000"/>
                        </a:solidFill>
                        <a:effectLst/>
                        <a:latin typeface="Sabon Next LT" panose="02000500000000000000" pitchFamily="2" charset="0"/>
                      </a:endParaRP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Verhalten wichtiger als reine Demografie</a:t>
                      </a:r>
                    </a:p>
                  </a:txBody>
                  <a:tcPr marL="9525" marR="9525" marT="9525" marB="0"/>
                </a:tc>
                <a:tc>
                  <a:txBody>
                    <a:bodyPr/>
                    <a:lstStyle/>
                    <a:p>
                      <a:pPr algn="l" rtl="0" fontAlgn="t">
                        <a:buNone/>
                      </a:pPr>
                      <a:r>
                        <a:rPr lang="de-DE" sz="1000" b="0" i="0" u="none" strike="noStrike">
                          <a:solidFill>
                            <a:srgbClr val="000000"/>
                          </a:solidFill>
                          <a:effectLst/>
                          <a:latin typeface="Sabon Next LT" panose="02000500000000000000" pitchFamily="2" charset="0"/>
                        </a:rPr>
                        <a:t>Fokus auf Nutzungs- &amp; Aktivitätsdaten</a:t>
                      </a:r>
                    </a:p>
                  </a:txBody>
                  <a:tcPr marL="9525" marR="9525" marT="9525" marB="0"/>
                </a:tc>
                <a:tc>
                  <a:txBody>
                    <a:bodyPr/>
                    <a:lstStyle/>
                    <a:p>
                      <a:pPr algn="l" rtl="0" fontAlgn="t">
                        <a:buNone/>
                      </a:pPr>
                      <a:r>
                        <a:rPr lang="de-DE" sz="1000" b="0" i="0" u="none" strike="noStrike" dirty="0">
                          <a:solidFill>
                            <a:srgbClr val="000000"/>
                          </a:solidFill>
                          <a:effectLst/>
                          <a:latin typeface="Sabon Next LT" panose="02000500000000000000" pitchFamily="2" charset="0"/>
                        </a:rPr>
                        <a:t>Bessere Prognose als mit Soziodemografie allein</a:t>
                      </a:r>
                    </a:p>
                  </a:txBody>
                  <a:tcPr marL="9525" marR="9525" marT="9525" marB="0"/>
                </a:tc>
                <a:extLst>
                  <a:ext uri="{0D108BD9-81ED-4DB2-BD59-A6C34878D82A}">
                    <a16:rowId xmlns:a16="http://schemas.microsoft.com/office/drawing/2014/main" val="3317060144"/>
                  </a:ext>
                </a:extLst>
              </a:tr>
              <a:tr h="370840">
                <a:tc>
                  <a:txBody>
                    <a:bodyPr/>
                    <a:lstStyle/>
                    <a:p>
                      <a:pPr algn="l" rtl="0" fontAlgn="t">
                        <a:buNone/>
                      </a:pPr>
                      <a:r>
                        <a:rPr lang="de-DE" sz="1000" b="0" i="0" u="none" strike="noStrike" dirty="0">
                          <a:solidFill>
                            <a:srgbClr val="000000"/>
                          </a:solidFill>
                          <a:effectLst/>
                          <a:latin typeface="Sabon Next LT" panose="02000500000000000000" pitchFamily="2" charset="0"/>
                        </a:rPr>
                        <a:t>Reaktionstypen</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Unterscheidung der einzelnen Kundentypen</a:t>
                      </a:r>
                    </a:p>
                  </a:txBody>
                  <a:tcPr marL="9525" marR="9525" marT="9525" marB="0"/>
                </a:tc>
                <a:tc>
                  <a:txBody>
                    <a:bodyPr/>
                    <a:lstStyle/>
                    <a:p>
                      <a:pPr algn="l" rtl="0" fontAlgn="t">
                        <a:buNone/>
                      </a:pPr>
                      <a:r>
                        <a:rPr lang="de-DE" sz="1000" b="0" i="0" u="none" strike="noStrike" dirty="0">
                          <a:solidFill>
                            <a:srgbClr val="000000"/>
                          </a:solidFill>
                          <a:effectLst/>
                          <a:latin typeface="Sabon Next LT" panose="02000500000000000000" pitchFamily="2" charset="0"/>
                        </a:rPr>
                        <a:t>gezieltere Ansprachen </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Wenig Streuverlust, Werbung kommt bei dem „Richtigen“ an, Kostensenkung</a:t>
                      </a:r>
                    </a:p>
                  </a:txBody>
                  <a:tcPr marL="9525" marR="9525" marT="9525" marB="0"/>
                </a:tc>
                <a:extLst>
                  <a:ext uri="{0D108BD9-81ED-4DB2-BD59-A6C34878D82A}">
                    <a16:rowId xmlns:a16="http://schemas.microsoft.com/office/drawing/2014/main" val="2017933544"/>
                  </a:ext>
                </a:extLst>
              </a:tr>
              <a:tr h="370840">
                <a:tc>
                  <a:txBody>
                    <a:bodyPr/>
                    <a:lstStyle/>
                    <a:p>
                      <a:pPr algn="l" rtl="0" fontAlgn="t">
                        <a:buNone/>
                      </a:pPr>
                      <a:endParaRPr lang="de-DE" sz="1000" b="0" i="0" u="none" strike="noStrike" dirty="0">
                        <a:solidFill>
                          <a:srgbClr val="000000"/>
                        </a:solidFill>
                        <a:effectLst/>
                        <a:latin typeface="Sabon Next LT" panose="02000500000000000000" pitchFamily="2" charset="0"/>
                      </a:endParaRPr>
                    </a:p>
                  </a:txBody>
                  <a:tcPr marL="9525" marR="9525" marT="9525" marB="0"/>
                </a:tc>
                <a:tc>
                  <a:txBody>
                    <a:bodyPr/>
                    <a:lstStyle/>
                    <a:p>
                      <a:pPr algn="l" rtl="0" fontAlgn="t">
                        <a:buNone/>
                      </a:pPr>
                      <a:endParaRPr lang="de-DE" sz="1000" b="1" i="0" u="none" strike="noStrike" dirty="0">
                        <a:solidFill>
                          <a:srgbClr val="000000"/>
                        </a:solidFill>
                        <a:effectLst/>
                        <a:latin typeface="Sabon Next LT" panose="02000500000000000000" pitchFamily="2" charset="0"/>
                      </a:endParaRPr>
                    </a:p>
                  </a:txBody>
                  <a:tcPr marL="9525" marR="9525" marT="9525" marB="0"/>
                </a:tc>
                <a:tc>
                  <a:txBody>
                    <a:bodyPr/>
                    <a:lstStyle/>
                    <a:p>
                      <a:pPr algn="l" rtl="0" fontAlgn="t">
                        <a:buNone/>
                      </a:pPr>
                      <a:endParaRPr lang="de-DE" sz="1000" b="0" i="0" u="none" strike="noStrike" dirty="0">
                        <a:solidFill>
                          <a:srgbClr val="000000"/>
                        </a:solidFill>
                        <a:effectLst/>
                        <a:latin typeface="Sabon Next LT" panose="02000500000000000000" pitchFamily="2" charset="0"/>
                      </a:endParaRPr>
                    </a:p>
                  </a:txBody>
                  <a:tcPr marL="9525" marR="9525" marT="9525" marB="0"/>
                </a:tc>
                <a:tc>
                  <a:txBody>
                    <a:bodyPr/>
                    <a:lstStyle/>
                    <a:p>
                      <a:pPr algn="l" rtl="0" fontAlgn="t">
                        <a:buNone/>
                      </a:pPr>
                      <a:endParaRPr lang="de-DE" sz="1000" b="1" i="0" u="none" strike="noStrike" dirty="0">
                        <a:solidFill>
                          <a:srgbClr val="000000"/>
                        </a:solidFill>
                        <a:effectLst/>
                        <a:latin typeface="Sabon Next LT" panose="02000500000000000000" pitchFamily="2" charset="0"/>
                      </a:endParaRPr>
                    </a:p>
                  </a:txBody>
                  <a:tcPr marL="9525" marR="9525" marT="9525" marB="0"/>
                </a:tc>
                <a:extLst>
                  <a:ext uri="{0D108BD9-81ED-4DB2-BD59-A6C34878D82A}">
                    <a16:rowId xmlns:a16="http://schemas.microsoft.com/office/drawing/2014/main" val="81553400"/>
                  </a:ext>
                </a:extLst>
              </a:tr>
            </a:tbl>
          </a:graphicData>
        </a:graphic>
      </p:graphicFrame>
    </p:spTree>
    <p:extLst>
      <p:ext uri="{BB962C8B-B14F-4D97-AF65-F5344CB8AC3E}">
        <p14:creationId xmlns:p14="http://schemas.microsoft.com/office/powerpoint/2010/main" val="250245438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CB7B-7DFF-1E16-3FFB-9B85E9C637A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B00327D-79DA-AE7C-AB4B-5DC9E74DF6DE}"/>
              </a:ext>
            </a:extLst>
          </p:cNvPr>
          <p:cNvSpPr>
            <a:spLocks noGrp="1"/>
          </p:cNvSpPr>
          <p:nvPr>
            <p:ph type="title"/>
          </p:nvPr>
        </p:nvSpPr>
        <p:spPr>
          <a:xfrm>
            <a:off x="3136405" y="754298"/>
            <a:ext cx="7965461" cy="994164"/>
          </a:xfrm>
        </p:spPr>
        <p:txBody>
          <a:bodyPr rtlCol="0"/>
          <a:lstStyle>
            <a:defPPr>
              <a:defRPr lang="de-DE"/>
            </a:defPPr>
          </a:lstStyle>
          <a:p>
            <a:pPr algn="ctr"/>
            <a:r>
              <a:rPr lang="de-DE" sz="2000" dirty="0">
                <a:latin typeface="+mn-lt"/>
              </a:rPr>
              <a:t> Executive Summary</a:t>
            </a:r>
            <a:br>
              <a:rPr lang="de-DE" sz="2000" dirty="0">
                <a:latin typeface="+mn-lt"/>
              </a:rPr>
            </a:br>
            <a:r>
              <a:rPr lang="de-DE" sz="2000" dirty="0">
                <a:latin typeface="+mn-lt"/>
              </a:rPr>
              <a:t>Markov-Ketten</a:t>
            </a:r>
          </a:p>
        </p:txBody>
      </p:sp>
      <p:graphicFrame>
        <p:nvGraphicFramePr>
          <p:cNvPr id="3" name="Tabelle 2">
            <a:extLst>
              <a:ext uri="{FF2B5EF4-FFF2-40B4-BE49-F238E27FC236}">
                <a16:creationId xmlns:a16="http://schemas.microsoft.com/office/drawing/2014/main" id="{82F81367-1888-A745-9C71-337C78EF9A86}"/>
              </a:ext>
            </a:extLst>
          </p:cNvPr>
          <p:cNvGraphicFramePr>
            <a:graphicFrameLocks noGrp="1"/>
          </p:cNvGraphicFramePr>
          <p:nvPr>
            <p:extLst>
              <p:ext uri="{D42A27DB-BD31-4B8C-83A1-F6EECF244321}">
                <p14:modId xmlns:p14="http://schemas.microsoft.com/office/powerpoint/2010/main" val="2323704230"/>
              </p:ext>
            </p:extLst>
          </p:nvPr>
        </p:nvGraphicFramePr>
        <p:xfrm>
          <a:off x="3231408" y="2204081"/>
          <a:ext cx="8128000" cy="2473325"/>
        </p:xfrm>
        <a:graphic>
          <a:graphicData uri="http://schemas.openxmlformats.org/drawingml/2006/table">
            <a:tbl>
              <a:tblPr firstRow="1" bandRow="1">
                <a:tableStyleId>{3B4B98B0-60AC-42C2-AFA5-B58CD77FA1E5}</a:tableStyleId>
              </a:tblPr>
              <a:tblGrid>
                <a:gridCol w="2032000">
                  <a:extLst>
                    <a:ext uri="{9D8B030D-6E8A-4147-A177-3AD203B41FA5}">
                      <a16:colId xmlns:a16="http://schemas.microsoft.com/office/drawing/2014/main" val="1243285813"/>
                    </a:ext>
                  </a:extLst>
                </a:gridCol>
                <a:gridCol w="2032000">
                  <a:extLst>
                    <a:ext uri="{9D8B030D-6E8A-4147-A177-3AD203B41FA5}">
                      <a16:colId xmlns:a16="http://schemas.microsoft.com/office/drawing/2014/main" val="669895178"/>
                    </a:ext>
                  </a:extLst>
                </a:gridCol>
                <a:gridCol w="2032000">
                  <a:extLst>
                    <a:ext uri="{9D8B030D-6E8A-4147-A177-3AD203B41FA5}">
                      <a16:colId xmlns:a16="http://schemas.microsoft.com/office/drawing/2014/main" val="2086334324"/>
                    </a:ext>
                  </a:extLst>
                </a:gridCol>
                <a:gridCol w="2032000">
                  <a:extLst>
                    <a:ext uri="{9D8B030D-6E8A-4147-A177-3AD203B41FA5}">
                      <a16:colId xmlns:a16="http://schemas.microsoft.com/office/drawing/2014/main" val="2519299776"/>
                    </a:ext>
                  </a:extLst>
                </a:gridCol>
              </a:tblGrid>
              <a:tr h="370840">
                <a:tc>
                  <a:txBody>
                    <a:bodyPr/>
                    <a:lstStyle/>
                    <a:p>
                      <a:pPr algn="l" fontAlgn="t">
                        <a:buNone/>
                      </a:pPr>
                      <a:r>
                        <a:rPr lang="de-DE" sz="1000" b="1" i="0" u="none" strike="noStrike" dirty="0">
                          <a:solidFill>
                            <a:srgbClr val="000000"/>
                          </a:solidFill>
                          <a:effectLst/>
                          <a:latin typeface="Sabon Next LT" panose="02000500000000000000" pitchFamily="2" charset="0"/>
                        </a:rPr>
                        <a:t>Nie-Reagierer</a:t>
                      </a:r>
                    </a:p>
                  </a:txBody>
                  <a:tcPr marL="9525" marR="9525" marT="9525" marB="0"/>
                </a:tc>
                <a:tc>
                  <a:txBody>
                    <a:bodyPr/>
                    <a:lstStyle/>
                    <a:p>
                      <a:pPr algn="l" fontAlgn="t">
                        <a:buNone/>
                      </a:pPr>
                      <a:r>
                        <a:rPr lang="de-DE" sz="1000" b="0" i="0" u="none" strike="noStrike" dirty="0">
                          <a:solidFill>
                            <a:srgbClr val="000000"/>
                          </a:solidFill>
                          <a:effectLst/>
                          <a:latin typeface="Sabon Next LT" panose="02000500000000000000" pitchFamily="2" charset="0"/>
                        </a:rPr>
                        <a:t>Stabil sehr geringe Reaktionswahrscheinlichkeit</a:t>
                      </a:r>
                    </a:p>
                  </a:txBody>
                  <a:tcPr marL="9525" marR="9525" marT="9525" marB="0"/>
                </a:tc>
                <a:tc>
                  <a:txBody>
                    <a:bodyPr/>
                    <a:lstStyle/>
                    <a:p>
                      <a:pPr algn="l" fontAlgn="t">
                        <a:buNone/>
                      </a:pPr>
                      <a:r>
                        <a:rPr lang="de-DE" sz="1000" b="0" i="0" u="none" strike="noStrike">
                          <a:solidFill>
                            <a:srgbClr val="000000"/>
                          </a:solidFill>
                          <a:effectLst/>
                          <a:latin typeface="Sabon Next LT" panose="02000500000000000000" pitchFamily="2" charset="0"/>
                        </a:rPr>
                        <a:t>Bewusster Ausschluss von Standardkampagnen</a:t>
                      </a:r>
                    </a:p>
                  </a:txBody>
                  <a:tcPr marL="9525" marR="9525" marT="9525" marB="0"/>
                </a:tc>
                <a:tc>
                  <a:txBody>
                    <a:bodyPr/>
                    <a:lstStyle/>
                    <a:p>
                      <a:pPr algn="l" fontAlgn="t">
                        <a:buNone/>
                      </a:pPr>
                      <a:r>
                        <a:rPr lang="de-DE" sz="1000" b="1" i="0" u="none" strike="noStrike" dirty="0">
                          <a:solidFill>
                            <a:srgbClr val="000000"/>
                          </a:solidFill>
                          <a:effectLst/>
                          <a:latin typeface="Sabon Next LT" panose="02000500000000000000" pitchFamily="2" charset="0"/>
                        </a:rPr>
                        <a:t>Reduktion unnötiger Marketingkosten</a:t>
                      </a:r>
                    </a:p>
                  </a:txBody>
                  <a:tcPr marL="9525" marR="9525" marT="9525" marB="0"/>
                </a:tc>
                <a:extLst>
                  <a:ext uri="{0D108BD9-81ED-4DB2-BD59-A6C34878D82A}">
                    <a16:rowId xmlns:a16="http://schemas.microsoft.com/office/drawing/2014/main" val="2967278444"/>
                  </a:ext>
                </a:extLst>
              </a:tr>
              <a:tr h="370840">
                <a:tc>
                  <a:txBody>
                    <a:bodyPr/>
                    <a:lstStyle/>
                    <a:p>
                      <a:pPr algn="l" fontAlgn="t">
                        <a:buNone/>
                      </a:pPr>
                      <a:r>
                        <a:rPr lang="de-DE" sz="1000" b="1" i="0" u="none" strike="noStrike" dirty="0">
                          <a:solidFill>
                            <a:srgbClr val="000000"/>
                          </a:solidFill>
                          <a:effectLst/>
                          <a:latin typeface="Sabon Next LT" panose="02000500000000000000" pitchFamily="2" charset="0"/>
                        </a:rPr>
                        <a:t>Früh-Reagierer</a:t>
                      </a:r>
                    </a:p>
                  </a:txBody>
                  <a:tcPr marL="9525" marR="9525" marT="9525" marB="0"/>
                </a:tc>
                <a:tc>
                  <a:txBody>
                    <a:bodyPr/>
                    <a:lstStyle/>
                    <a:p>
                      <a:pPr algn="l" fontAlgn="t">
                        <a:buNone/>
                      </a:pPr>
                      <a:r>
                        <a:rPr lang="de-DE" sz="1000" b="0" i="0" u="none" strike="noStrike" dirty="0">
                          <a:solidFill>
                            <a:srgbClr val="000000"/>
                          </a:solidFill>
                          <a:effectLst/>
                          <a:latin typeface="Sabon Next LT" panose="02000500000000000000" pitchFamily="2" charset="0"/>
                        </a:rPr>
                        <a:t>Reagieren stark zu Beginn, verlieren danach schnell Interesse</a:t>
                      </a:r>
                    </a:p>
                  </a:txBody>
                  <a:tcPr marL="9525" marR="9525" marT="9525" marB="0"/>
                </a:tc>
                <a:tc>
                  <a:txBody>
                    <a:bodyPr/>
                    <a:lstStyle/>
                    <a:p>
                      <a:pPr algn="l" fontAlgn="t">
                        <a:buNone/>
                      </a:pPr>
                      <a:r>
                        <a:rPr lang="de-DE" sz="1000" b="1" i="0" u="none" strike="noStrike" dirty="0">
                          <a:solidFill>
                            <a:srgbClr val="000000"/>
                          </a:solidFill>
                          <a:effectLst/>
                          <a:latin typeface="Sabon Next LT" panose="02000500000000000000" pitchFamily="2" charset="0"/>
                        </a:rPr>
                        <a:t>Schnelles Follow-</a:t>
                      </a:r>
                      <a:r>
                        <a:rPr lang="de-DE" sz="1000" b="1" i="0" u="none" strike="noStrike" dirty="0" err="1">
                          <a:solidFill>
                            <a:srgbClr val="000000"/>
                          </a:solidFill>
                          <a:effectLst/>
                          <a:latin typeface="Sabon Next LT" panose="02000500000000000000" pitchFamily="2" charset="0"/>
                        </a:rPr>
                        <a:t>up</a:t>
                      </a:r>
                      <a:r>
                        <a:rPr lang="de-DE" sz="1000" b="1" i="0" u="none" strike="noStrike" dirty="0">
                          <a:solidFill>
                            <a:srgbClr val="000000"/>
                          </a:solidFill>
                          <a:effectLst/>
                          <a:latin typeface="Sabon Next LT" panose="02000500000000000000" pitchFamily="2" charset="0"/>
                        </a:rPr>
                        <a:t>, Onboarding statt Wiederholung</a:t>
                      </a:r>
                    </a:p>
                  </a:txBody>
                  <a:tcPr marL="9525" marR="9525" marT="9525" marB="0"/>
                </a:tc>
                <a:tc>
                  <a:txBody>
                    <a:bodyPr/>
                    <a:lstStyle/>
                    <a:p>
                      <a:pPr algn="l" fontAlgn="t">
                        <a:buNone/>
                      </a:pPr>
                      <a:r>
                        <a:rPr lang="de-DE" sz="1000" b="0" i="0" u="none" strike="noStrike" dirty="0">
                          <a:solidFill>
                            <a:srgbClr val="000000"/>
                          </a:solidFill>
                          <a:effectLst/>
                          <a:latin typeface="Sabon Next LT" panose="02000500000000000000" pitchFamily="2" charset="0"/>
                        </a:rPr>
                        <a:t>Maximierung der Erstreaktion</a:t>
                      </a:r>
                    </a:p>
                  </a:txBody>
                  <a:tcPr marL="9525" marR="9525" marT="9525" marB="0"/>
                </a:tc>
                <a:extLst>
                  <a:ext uri="{0D108BD9-81ED-4DB2-BD59-A6C34878D82A}">
                    <a16:rowId xmlns:a16="http://schemas.microsoft.com/office/drawing/2014/main" val="1669403559"/>
                  </a:ext>
                </a:extLst>
              </a:tr>
              <a:tr h="370840">
                <a:tc>
                  <a:txBody>
                    <a:bodyPr/>
                    <a:lstStyle/>
                    <a:p>
                      <a:pPr algn="l" fontAlgn="t">
                        <a:buNone/>
                      </a:pPr>
                      <a:r>
                        <a:rPr lang="de-DE" sz="1000" b="1" i="0" u="none" strike="noStrike" dirty="0">
                          <a:solidFill>
                            <a:srgbClr val="000000"/>
                          </a:solidFill>
                          <a:effectLst/>
                          <a:latin typeface="Sabon Next LT" panose="02000500000000000000" pitchFamily="2" charset="0"/>
                        </a:rPr>
                        <a:t>Gelegenheits-Reagierer</a:t>
                      </a:r>
                    </a:p>
                  </a:txBody>
                  <a:tcPr marL="9525" marR="9525" marT="9525" marB="0"/>
                </a:tc>
                <a:tc>
                  <a:txBody>
                    <a:bodyPr/>
                    <a:lstStyle/>
                    <a:p>
                      <a:pPr algn="l" fontAlgn="t">
                        <a:buNone/>
                      </a:pPr>
                      <a:r>
                        <a:rPr lang="de-DE" sz="1000" b="0" i="0" u="none" strike="noStrike">
                          <a:solidFill>
                            <a:srgbClr val="000000"/>
                          </a:solidFill>
                          <a:effectLst/>
                          <a:latin typeface="Sabon Next LT" panose="02000500000000000000" pitchFamily="2" charset="0"/>
                        </a:rPr>
                        <a:t>Reagieren unregelmäßig und stark kontextabhängig</a:t>
                      </a:r>
                    </a:p>
                  </a:txBody>
                  <a:tcPr marL="9525" marR="9525" marT="9525" marB="0"/>
                </a:tc>
                <a:tc>
                  <a:txBody>
                    <a:bodyPr/>
                    <a:lstStyle/>
                    <a:p>
                      <a:pPr algn="l" fontAlgn="t">
                        <a:buNone/>
                      </a:pPr>
                      <a:r>
                        <a:rPr lang="de-DE" sz="1000" b="1" i="0" u="none" strike="noStrike" dirty="0">
                          <a:solidFill>
                            <a:srgbClr val="000000"/>
                          </a:solidFill>
                          <a:effectLst/>
                          <a:latin typeface="Sabon Next LT" panose="02000500000000000000" pitchFamily="2" charset="0"/>
                        </a:rPr>
                        <a:t>Relevanz- &amp; Timing-Optimierung, personalisierte Trigger, A/B-Tests</a:t>
                      </a:r>
                    </a:p>
                  </a:txBody>
                  <a:tcPr marL="9525" marR="9525" marT="9525" marB="0"/>
                </a:tc>
                <a:tc>
                  <a:txBody>
                    <a:bodyPr/>
                    <a:lstStyle/>
                    <a:p>
                      <a:pPr algn="l" fontAlgn="t">
                        <a:buNone/>
                      </a:pPr>
                      <a:r>
                        <a:rPr lang="de-DE" sz="1000" b="0" i="0" u="none" strike="noStrike">
                          <a:solidFill>
                            <a:srgbClr val="000000"/>
                          </a:solidFill>
                          <a:effectLst/>
                          <a:latin typeface="Sabon Next LT" panose="02000500000000000000" pitchFamily="2" charset="0"/>
                        </a:rPr>
                        <a:t>Aktivierung erhöhen, Reaktionsstabilität aufbauen</a:t>
                      </a:r>
                    </a:p>
                  </a:txBody>
                  <a:tcPr marL="9525" marR="9525" marT="9525" marB="0"/>
                </a:tc>
                <a:extLst>
                  <a:ext uri="{0D108BD9-81ED-4DB2-BD59-A6C34878D82A}">
                    <a16:rowId xmlns:a16="http://schemas.microsoft.com/office/drawing/2014/main" val="2278134677"/>
                  </a:ext>
                </a:extLst>
              </a:tr>
              <a:tr h="370840">
                <a:tc>
                  <a:txBody>
                    <a:bodyPr/>
                    <a:lstStyle/>
                    <a:p>
                      <a:pPr algn="l" fontAlgn="t">
                        <a:buNone/>
                      </a:pPr>
                      <a:r>
                        <a:rPr lang="de-DE" sz="1000" b="1" i="0" u="none" strike="noStrike" dirty="0">
                          <a:solidFill>
                            <a:srgbClr val="000000"/>
                          </a:solidFill>
                          <a:effectLst/>
                          <a:latin typeface="Sabon Next LT" panose="02000500000000000000" pitchFamily="2" charset="0"/>
                        </a:rPr>
                        <a:t>Spät-Reagierer</a:t>
                      </a:r>
                    </a:p>
                  </a:txBody>
                  <a:tcPr marL="9525" marR="9525" marT="9525" marB="0"/>
                </a:tc>
                <a:tc>
                  <a:txBody>
                    <a:bodyPr/>
                    <a:lstStyle/>
                    <a:p>
                      <a:pPr algn="l" fontAlgn="t">
                        <a:buNone/>
                      </a:pPr>
                      <a:r>
                        <a:rPr lang="de-DE" sz="1000" b="0" i="0" u="none" strike="noStrike">
                          <a:solidFill>
                            <a:srgbClr val="000000"/>
                          </a:solidFill>
                          <a:effectLst/>
                          <a:latin typeface="Sabon Next LT" panose="02000500000000000000" pitchFamily="2" charset="0"/>
                        </a:rPr>
                        <a:t>Benötigen mehrere Kontakte, reagieren verzögert</a:t>
                      </a:r>
                    </a:p>
                  </a:txBody>
                  <a:tcPr marL="9525" marR="9525" marT="9525" marB="0"/>
                </a:tc>
                <a:tc>
                  <a:txBody>
                    <a:bodyPr/>
                    <a:lstStyle/>
                    <a:p>
                      <a:pPr algn="l" fontAlgn="t">
                        <a:buNone/>
                      </a:pPr>
                      <a:r>
                        <a:rPr lang="de-DE" sz="1000" b="1" i="0" u="none" strike="noStrike" dirty="0" err="1">
                          <a:solidFill>
                            <a:srgbClr val="000000"/>
                          </a:solidFill>
                          <a:effectLst/>
                          <a:latin typeface="Sabon Next LT" panose="02000500000000000000" pitchFamily="2" charset="0"/>
                        </a:rPr>
                        <a:t>Reminder</a:t>
                      </a:r>
                      <a:r>
                        <a:rPr lang="de-DE" sz="1000" b="1" i="0" u="none" strike="noStrike" dirty="0">
                          <a:solidFill>
                            <a:srgbClr val="000000"/>
                          </a:solidFill>
                          <a:effectLst/>
                          <a:latin typeface="Sabon Next LT" panose="02000500000000000000" pitchFamily="2" charset="0"/>
                        </a:rPr>
                        <a:t>-Logik, konsistente Mehrfachansprache</a:t>
                      </a:r>
                    </a:p>
                  </a:txBody>
                  <a:tcPr marL="9525" marR="9525" marT="9525" marB="0"/>
                </a:tc>
                <a:tc>
                  <a:txBody>
                    <a:bodyPr/>
                    <a:lstStyle/>
                    <a:p>
                      <a:pPr algn="l" fontAlgn="t">
                        <a:buNone/>
                      </a:pPr>
                      <a:r>
                        <a:rPr lang="de-DE" sz="1000" b="0" i="0" u="none" strike="noStrike">
                          <a:solidFill>
                            <a:srgbClr val="000000"/>
                          </a:solidFill>
                          <a:effectLst/>
                          <a:latin typeface="Sabon Next LT" panose="02000500000000000000" pitchFamily="2" charset="0"/>
                        </a:rPr>
                        <a:t>Geduldige Aktivierung mit steigender Relevanz</a:t>
                      </a:r>
                    </a:p>
                  </a:txBody>
                  <a:tcPr marL="9525" marR="9525" marT="9525" marB="0"/>
                </a:tc>
                <a:extLst>
                  <a:ext uri="{0D108BD9-81ED-4DB2-BD59-A6C34878D82A}">
                    <a16:rowId xmlns:a16="http://schemas.microsoft.com/office/drawing/2014/main" val="937843741"/>
                  </a:ext>
                </a:extLst>
              </a:tr>
              <a:tr h="370840">
                <a:tc>
                  <a:txBody>
                    <a:bodyPr/>
                    <a:lstStyle/>
                    <a:p>
                      <a:pPr algn="l" fontAlgn="t">
                        <a:buNone/>
                      </a:pPr>
                      <a:r>
                        <a:rPr lang="de-DE" sz="1000" b="1" i="0" u="none" strike="noStrike" dirty="0">
                          <a:solidFill>
                            <a:srgbClr val="000000"/>
                          </a:solidFill>
                          <a:effectLst/>
                          <a:latin typeface="Sabon Next LT" panose="02000500000000000000" pitchFamily="2" charset="0"/>
                        </a:rPr>
                        <a:t>Mehrfach-Reagierer</a:t>
                      </a:r>
                    </a:p>
                  </a:txBody>
                  <a:tcPr marL="9525" marR="9525" marT="9525" marB="0"/>
                </a:tc>
                <a:tc>
                  <a:txBody>
                    <a:bodyPr/>
                    <a:lstStyle/>
                    <a:p>
                      <a:pPr algn="l" fontAlgn="t">
                        <a:buNone/>
                      </a:pPr>
                      <a:r>
                        <a:rPr lang="de-DE" sz="1000" b="0" i="0" u="none" strike="noStrike">
                          <a:solidFill>
                            <a:srgbClr val="000000"/>
                          </a:solidFill>
                          <a:effectLst/>
                          <a:latin typeface="Sabon Next LT" panose="02000500000000000000" pitchFamily="2" charset="0"/>
                        </a:rPr>
                        <a:t>Reagieren häufig und wiederholt auf Kampagnen</a:t>
                      </a:r>
                    </a:p>
                  </a:txBody>
                  <a:tcPr marL="9525" marR="9525" marT="9525" marB="0"/>
                </a:tc>
                <a:tc>
                  <a:txBody>
                    <a:bodyPr/>
                    <a:lstStyle/>
                    <a:p>
                      <a:pPr algn="l" fontAlgn="t">
                        <a:buNone/>
                      </a:pPr>
                      <a:r>
                        <a:rPr lang="de-DE" sz="1000" b="1" i="0" u="none" strike="noStrike" dirty="0">
                          <a:solidFill>
                            <a:srgbClr val="000000"/>
                          </a:solidFill>
                          <a:effectLst/>
                          <a:latin typeface="Sabon Next LT" panose="02000500000000000000" pitchFamily="2" charset="0"/>
                        </a:rPr>
                        <a:t>Premium-Handling, Cross- &amp; Upselling, Exklusivität</a:t>
                      </a:r>
                    </a:p>
                  </a:txBody>
                  <a:tcPr marL="9525" marR="9525" marT="9525" marB="0"/>
                </a:tc>
                <a:tc>
                  <a:txBody>
                    <a:bodyPr/>
                    <a:lstStyle/>
                    <a:p>
                      <a:pPr algn="l" fontAlgn="t">
                        <a:buNone/>
                      </a:pPr>
                      <a:r>
                        <a:rPr lang="de-DE" sz="1000" b="0" i="0" u="none" strike="noStrike">
                          <a:solidFill>
                            <a:srgbClr val="000000"/>
                          </a:solidFill>
                          <a:effectLst/>
                          <a:latin typeface="Sabon Next LT" panose="02000500000000000000" pitchFamily="2" charset="0"/>
                        </a:rPr>
                        <a:t>Wertmaximierung &amp; Kundenbindung</a:t>
                      </a:r>
                    </a:p>
                  </a:txBody>
                  <a:tcPr marL="9525" marR="9525" marT="9525" marB="0"/>
                </a:tc>
                <a:extLst>
                  <a:ext uri="{0D108BD9-81ED-4DB2-BD59-A6C34878D82A}">
                    <a16:rowId xmlns:a16="http://schemas.microsoft.com/office/drawing/2014/main" val="3866094327"/>
                  </a:ext>
                </a:extLst>
              </a:tr>
              <a:tr h="370840">
                <a:tc>
                  <a:txBody>
                    <a:bodyPr/>
                    <a:lstStyle/>
                    <a:p>
                      <a:pPr algn="l" rtl="0" fontAlgn="t">
                        <a:buNone/>
                      </a:pPr>
                      <a:r>
                        <a:rPr lang="de-DE" sz="1000" b="1" i="0" u="none" strike="noStrike" dirty="0">
                          <a:solidFill>
                            <a:srgbClr val="000000"/>
                          </a:solidFill>
                          <a:effectLst/>
                          <a:latin typeface="Sabon Next LT" panose="02000500000000000000" pitchFamily="2" charset="0"/>
                        </a:rPr>
                        <a:t>Reaktionstyp-Entwicklung</a:t>
                      </a:r>
                    </a:p>
                  </a:txBody>
                  <a:tcPr marL="9525" marR="9525" marT="9525" marB="0"/>
                </a:tc>
                <a:tc>
                  <a:txBody>
                    <a:bodyPr/>
                    <a:lstStyle/>
                    <a:p>
                      <a:pPr algn="l" rtl="0" fontAlgn="t">
                        <a:buNone/>
                      </a:pPr>
                      <a:r>
                        <a:rPr lang="de-DE" sz="1000" b="0" i="0" u="none" strike="noStrike">
                          <a:solidFill>
                            <a:srgbClr val="000000"/>
                          </a:solidFill>
                          <a:effectLst/>
                          <a:latin typeface="Sabon Next LT" panose="02000500000000000000" pitchFamily="2" charset="0"/>
                        </a:rPr>
                        <a:t>Reaktionstypen sind Zustände, keine festen Kundeneigenschaften</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Aktive Kunden gezielt in stabilere Reaktionsmuster überführen (z. B. Früh → Mehrfach → Dauer) - upgrade</a:t>
                      </a:r>
                    </a:p>
                  </a:txBody>
                  <a:tcPr marL="9525" marR="9525" marT="9525" marB="0"/>
                </a:tc>
                <a:tc>
                  <a:txBody>
                    <a:bodyPr/>
                    <a:lstStyle/>
                    <a:p>
                      <a:pPr algn="l" rtl="0" fontAlgn="t">
                        <a:buNone/>
                      </a:pPr>
                      <a:r>
                        <a:rPr lang="de-DE" sz="1000" b="1" i="0" u="none" strike="noStrike" dirty="0">
                          <a:solidFill>
                            <a:srgbClr val="000000"/>
                          </a:solidFill>
                          <a:effectLst/>
                          <a:latin typeface="Sabon Next LT" panose="02000500000000000000" pitchFamily="2" charset="0"/>
                        </a:rPr>
                        <a:t>Nachhaltigere Kundenbindung</a:t>
                      </a:r>
                    </a:p>
                  </a:txBody>
                  <a:tcPr marL="9525" marR="9525" marT="9525" marB="0"/>
                </a:tc>
                <a:extLst>
                  <a:ext uri="{0D108BD9-81ED-4DB2-BD59-A6C34878D82A}">
                    <a16:rowId xmlns:a16="http://schemas.microsoft.com/office/drawing/2014/main" val="1603903544"/>
                  </a:ext>
                </a:extLst>
              </a:tr>
            </a:tbl>
          </a:graphicData>
        </a:graphic>
      </p:graphicFrame>
    </p:spTree>
    <p:extLst>
      <p:ext uri="{BB962C8B-B14F-4D97-AF65-F5344CB8AC3E}">
        <p14:creationId xmlns:p14="http://schemas.microsoft.com/office/powerpoint/2010/main" val="4096043841"/>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210199-C129-11F0-56F2-2D1AED21CB4C}"/>
              </a:ext>
            </a:extLst>
          </p:cNvPr>
          <p:cNvSpPr>
            <a:spLocks noGrp="1"/>
          </p:cNvSpPr>
          <p:nvPr>
            <p:ph type="title"/>
          </p:nvPr>
        </p:nvSpPr>
        <p:spPr>
          <a:xfrm>
            <a:off x="3723701" y="1792759"/>
            <a:ext cx="8273667" cy="889375"/>
          </a:xfrm>
        </p:spPr>
        <p:txBody>
          <a:bodyPr rtlCol="0"/>
          <a:lstStyle>
            <a:defPPr>
              <a:defRPr lang="de-DE"/>
            </a:defPPr>
          </a:lstStyle>
          <a:p>
            <a:pPr algn="ctr" rtl="0"/>
            <a:r>
              <a:rPr lang="de-DE" sz="2800" dirty="0">
                <a:latin typeface="+mn-lt"/>
              </a:rPr>
              <a:t>Vielen Dank für eure Aufmerksamkeit!</a:t>
            </a:r>
            <a:br>
              <a:rPr lang="de-DE" sz="2800" dirty="0">
                <a:latin typeface="+mn-lt"/>
              </a:rPr>
            </a:br>
            <a:br>
              <a:rPr lang="de-DE" sz="2800" dirty="0">
                <a:latin typeface="+mn-lt"/>
              </a:rPr>
            </a:br>
            <a:r>
              <a:rPr lang="de-DE" sz="2800" dirty="0">
                <a:latin typeface="+mn-lt"/>
              </a:rPr>
              <a:t>Fragen?</a:t>
            </a:r>
          </a:p>
        </p:txBody>
      </p:sp>
      <p:pic>
        <p:nvPicPr>
          <p:cNvPr id="10" name="Grafik 9" descr="Ein Bild, das Cartoon enthält.&#10;&#10;KI-generierte Inhalte können fehlerhaft sein.">
            <a:extLst>
              <a:ext uri="{FF2B5EF4-FFF2-40B4-BE49-F238E27FC236}">
                <a16:creationId xmlns:a16="http://schemas.microsoft.com/office/drawing/2014/main" id="{2D2D97B1-03B4-5527-7EDC-DEEE70FF0500}"/>
              </a:ext>
            </a:extLst>
          </p:cNvPr>
          <p:cNvPicPr>
            <a:picLocks noChangeAspect="1"/>
          </p:cNvPicPr>
          <p:nvPr/>
        </p:nvPicPr>
        <p:blipFill>
          <a:blip r:embed="rId3"/>
          <a:stretch>
            <a:fillRect/>
          </a:stretch>
        </p:blipFill>
        <p:spPr>
          <a:xfrm>
            <a:off x="6945803" y="3210747"/>
            <a:ext cx="2136135" cy="2604655"/>
          </a:xfrm>
          <a:prstGeom prst="rect">
            <a:avLst/>
          </a:prstGeom>
        </p:spPr>
      </p:pic>
    </p:spTree>
    <p:extLst>
      <p:ext uri="{BB962C8B-B14F-4D97-AF65-F5344CB8AC3E}">
        <p14:creationId xmlns:p14="http://schemas.microsoft.com/office/powerpoint/2010/main" val="1131718056"/>
      </p:ext>
    </p:extLst>
  </p:cSld>
  <p:clrMapOvr>
    <a:masterClrMapping/>
  </p:clrMapOvr>
  <p:transition spd="slow">
    <p:wipe/>
  </p:transition>
</p:sld>
</file>

<file path=ppt/theme/theme1.xml><?xml version="1.0" encoding="utf-8"?>
<a:theme xmlns:a="http://schemas.openxmlformats.org/drawingml/2006/main" name="Benutzerdefiniert">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893086_TF78438558_Win32" id="{E5260DE1-892A-45A6-87FB-B6B6CDB6D88C}" vid="{7982CA12-75BD-4F5A-9434-39D83265C9EF}"/>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{ED0F2A6F-0D83-4845-8D7A-F70BDE5017AE}tf78438558_win32</Template>
  <TotalTime>0</TotalTime>
  <Words>2374</Words>
  <Application>Microsoft Office PowerPoint</Application>
  <PresentationFormat>Breitbild</PresentationFormat>
  <Paragraphs>369</Paragraphs>
  <Slides>15</Slides>
  <Notes>15</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15</vt:i4>
      </vt:variant>
    </vt:vector>
  </HeadingPairs>
  <TitlesOfParts>
    <vt:vector size="22" baseType="lpstr">
      <vt:lpstr>Aptos Narrow</vt:lpstr>
      <vt:lpstr>Arial</vt:lpstr>
      <vt:lpstr>Arial Black</vt:lpstr>
      <vt:lpstr>Calibri</vt:lpstr>
      <vt:lpstr>Sabon Next LT</vt:lpstr>
      <vt:lpstr>Wingdings</vt:lpstr>
      <vt:lpstr>Benutzerdefiniert</vt:lpstr>
      <vt:lpstr>Kampagnen - ANALYSE  Exploration, Modellierung und Entscheidung  *** marktkampagne.csv   ***  „Machine Learning ist kein Ziel, sondern ein Werkzeug für Entscheidungen.“   powered by Christin Gärtner  supportet by Teddy</vt:lpstr>
      <vt:lpstr>Agenda</vt:lpstr>
      <vt:lpstr>Kampagnen-Typologie (Clustering auf Kampagnenebene)</vt:lpstr>
      <vt:lpstr>PowerPoint-Präsentation</vt:lpstr>
      <vt:lpstr>Reaktions-Sequenz-Typologie auf Kundenebene (Advanced Analytics)   Customer Journey pro Reaktionstyp / Kampagne  Markov-Ketten pro Reaktionstyp / Kampagnencluster</vt:lpstr>
      <vt:lpstr>Reaktions-Sequenz-Typologie auf Kundenebene   </vt:lpstr>
      <vt:lpstr>PowerPoint-Präsentation</vt:lpstr>
      <vt:lpstr>PowerPoint-Präsentation</vt:lpstr>
      <vt:lpstr>PowerPoint-Präsentation</vt:lpstr>
      <vt:lpstr>Modellvergleich:   LogReg vs. Random Forest (High-Response-Kunden)   Threshold &amp; Recall Bestimmung </vt:lpstr>
      <vt:lpstr>PowerPoint-Präsentation</vt:lpstr>
      <vt:lpstr>Feature Importance – Random Forest (High-Response-Kunden - Kampagnencluster)</vt:lpstr>
      <vt:lpstr> Executive Summary</vt:lpstr>
      <vt:lpstr> Executive Summary Markov-Ketten</vt:lpstr>
      <vt:lpstr>Vielen Dank für eure Aufmerksamkeit!  Fragen?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Christin Gärtner</dc:creator>
  <cp:lastModifiedBy>Christin Gärtner</cp:lastModifiedBy>
  <cp:revision>240</cp:revision>
  <dcterms:created xsi:type="dcterms:W3CDTF">2026-01-27T09:50:23Z</dcterms:created>
  <dcterms:modified xsi:type="dcterms:W3CDTF">2026-03-15T17:19:02Z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